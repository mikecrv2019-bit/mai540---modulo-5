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6B5A62"/>
                </a:solidFill>
                <a:latin typeface="Calibri"/>
              </a:rPr>
              <a:t>F1 macro en validación cruzada, por modelo</a:t>
            </a:r>
          </a:p>
        </c:rich>
      </c:tx>
      <c:layout/>
      <c:overlay val="0"/>
    </c:title>
    <c:autoTitleDeleted val="0"/>
    <c:plotArea>
      <c:barChart>
        <c:barDir val="col"/>
        <c:grouping val="clustered"/>
        <c:ser>
          <c:idx val="0"/>
          <c:order val="0"/>
          <c:tx>
            <c:strRef>
              <c:f>Sheet1!$B$1</c:f>
              <c:strCache>
                <c:ptCount val="1"/>
                <c:pt idx="0">
                  <c:v>F1 macro (validación cruzada)</c:v>
                </c:pt>
              </c:strCache>
            </c:strRef>
          </c:tx>
          <c:dPt>
            <c:idx val="0"/>
            <c:spPr>
              <a:solidFill>
                <a:srgbClr val="E2C6D1"/>
              </a:solidFill>
            </c:spPr>
          </c:dPt>
          <c:dPt>
            <c:idx val="1"/>
            <c:spPr>
              <a:solidFill>
                <a:srgbClr val="B07C91"/>
              </a:solidFill>
            </c:spPr>
          </c:dPt>
          <c:dPt>
            <c:idx val="2"/>
            <c:spPr>
              <a:solidFill>
                <a:srgbClr val="B07C91"/>
              </a:solidFill>
            </c:spPr>
          </c:dPt>
          <c:dPt>
            <c:idx val="3"/>
            <c:spPr>
              <a:solidFill>
                <a:srgbClr val="B07C91"/>
              </a:solidFill>
            </c:spPr>
          </c:dPt>
          <c:dPt>
            <c:idx val="4"/>
            <c:spPr>
              <a:solidFill>
                <a:srgbClr val="5E1F36"/>
              </a:solidFill>
            </c:spPr>
          </c:dPt>
          <c:cat>
            <c:strRef>
              <c:f>Sheet1!$A$2:$A$6</c:f>
              <c:strCache>
                <c:ptCount val="5"/>
                <c:pt idx="0">
                  <c:v>Línea base</c:v>
                </c:pt>
                <c:pt idx="1">
                  <c:v>Árbol</c:v>
                </c:pt>
                <c:pt idx="2">
                  <c:v>Boosting</c:v>
                </c:pt>
                <c:pt idx="3">
                  <c:v>Random Forest</c:v>
                </c:pt>
                <c:pt idx="4">
                  <c:v>Reg. logística</c:v>
                </c:pt>
              </c:strCache>
            </c:strRef>
          </c:cat>
          <c:val>
            <c:numRef>
              <c:f>Sheet1!$B$2:$B$6</c:f>
              <c:numCache>
                <c:formatCode>General</c:formatCode>
                <c:ptCount val="5"/>
                <c:pt idx="0">
                  <c:v>0.191</c:v>
                </c:pt>
                <c:pt idx="1">
                  <c:v>0.921</c:v>
                </c:pt>
                <c:pt idx="2">
                  <c:v>0.959</c:v>
                </c:pt>
                <c:pt idx="3">
                  <c:v>0.981</c:v>
                </c:pt>
                <c:pt idx="4">
                  <c:v>0.981</c:v>
                </c:pt>
              </c:numCache>
            </c:numRef>
          </c:val>
        </c:ser>
        <c:dLbls>
          <c:numFmt formatCode="0.000" sourceLinked="0"/>
          <c:txPr>
            <a:bodyPr/>
            <a:lstStyle/>
            <a:p>
              <a:pPr>
                <a:defRPr sz="1300" b="1">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2C6D1"/>
            </a:solidFill>
          </a:ln>
        </c:spPr>
        <c:txPr>
          <a:bodyPr/>
          <a:lstStyle/>
          <a:p>
            <a:pPr>
              <a:defRPr>
                <a:solidFill>
                  <a:srgbClr val="2B2B2B"/>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C6D1"/>
              </a:solidFill>
            </a:ln>
          </c:spPr>
        </c:majorGridlines>
        <c:majorTickMark val="out"/>
        <c:minorTickMark val="none"/>
        <c:tickLblPos val="nextTo"/>
        <c:spPr>
          <a:ln>
            <a:noFill/>
          </a:ln>
        </c:spPr>
        <c:txPr>
          <a:bodyPr/>
          <a:lstStyle/>
          <a:p>
            <a:pPr>
              <a:defRPr>
                <a:solidFill>
                  <a:srgbClr val="6B5A62"/>
                </a:solidFill>
              </a:defRPr>
            </a:pPr>
          </a:p>
        </c:txPr>
        <c:crossAx val="-2068027336"/>
        <c:crosses val="autoZero"/>
      </c:valAx>
    </c:plotArea>
    <c:dispBlanksAs val="gap"/>
  </c:chart>
  <c:txPr>
    <a:bodyPr/>
    <a:lstStyle/>
    <a:p>
      <a:pPr>
        <a:defRPr sz="13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con la frase de valor y no con la técnica: 'Convierte 13 números de laboratorio en un perfil con su confianza, y avisa cuándo no hay que creerle'. La audiencia es mixta; la parte técnica llega en la diapositiva 4. Tiempo: 1 minuto. Estructura: problema, solución, decisiones técnicas, resultados con errores por categoría, limitaciones.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Quién lo necesita: quien decide a qué línea de producto va un lote. La empresa no tiene registro de cómo se decide. Dato honesto: los datos son el archivo público UCI Wine (178 lotes, CC BY 4.0), no datos de la empresa, y la variable que se predice es el cultivar, que usamos como sustituto del perfil químico. La correspondencia perfil a línea de producto la debe definir la empresa con un enólogo.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EN VIVO (2 minutos, opcional): python app_gradio.py y abrir http://127.0.0.1:7860. 1) Botón 'Lote típico class_0' y 'Clasificar lote': perfil con 100 % de confianza. 2) Botón 'Lote ambiguo (el 83)': class_1 con 66 % y el aviso de confianza baja. 3) Pestaña de archivo: subir datos/wine.csv. Explicar que el aviso es parte del producto: la herramienta dice cuándo no hay que creerle. Si la demo falla, usar las capturas o python src/predecir.py --fila 83.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público técnico. Por qué esta técnica y no otra: la regresión logística empató en media con el Random Forest (0.981 ambos) y es más simple de explicar y auditar; con 178 lotes una diferencia menor que una desviación es ruido. No se afinaron hiperparámetros para que todos los modelos tengan la misma oportunidad. La métrica es F1 macro porque la empresa no entregó costos por tipo de error. Tiempo: 1,5 minutos.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Cifras: validación cruzada 5x3 sobre 142 lotes, regresión logística 0.981 +/- 0.022 de F1 macro y de exactitud; la línea base (siempre la clase mayoritaria) 0.401 de exactitud y 0.191 de F1 macro. Prueba final, una sola medición: 35 de 36 (0.972). Advertencia que hay que decir en voz alta: el conjunto Wine es famoso por ser fácil; casi cualquier modelo supera 0.9.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Errores por categoría con los 178 lotes (cada lote lo predice un modelo que no lo vio). Por clase: class_0 sin errores (59 casos), class_1 con 2 (71), class_2 con 1 (48). No hay edad, sexo ni estado civil; se revisaron terciles de alcohol, prolina y magnesio y no hay diferencias distinguibles. Lo que si se concentra es la confianza: los 3 errores están entre los 12 lotes con confianza menor a 0.80 (IC 95 % de 9 a 53 %). Por qué creemos que ocurre: los lotes se parecen más a otro perfil (confianza máxima de un error: 0.677); es una explicación descriptiva, no causal. Honestidad: con 3 errores la comparación entre grupos es indicativa, y el umbral de 0.80 se eligió viendo estos mismos errores. Tiempo: 1,5 minutos.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modelo aprende de datos de un momento. Se simuló, sin tocar el modelo, que la prolina se lea 10, 25 o 50 % más alta, o que haya ruido. Con prolina +50 % la exactitud baja de 0.983 a 0.943; con ruido de una desviación, a 0.871. Las alertas: prueba de Kolmogorov-Smirnov por variable (ve el corrimiento de la media, 100 % de los repartos con +50 %) y porcentaje de lotes fuera de rango (ve el ruido, 100 %). Cada una casi no ve lo que la otra ve. Con prolina +25 % la exactitud baja solo 0.013 pero alguna alerta salta en 27 % de los repartos: una alerta no es una caída medida.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todos. Para qué no usarla y por qué: predice el cultivar de un archivo público, no la línea de producto; una sola fuente de 178 lotes; con confianza baja es donde fallan los errores; no sustituye al laboratorio. Qué cambiaría con el tiempo: el método o instrumento de medición (prolina y magnesio dependen del método), cosechas y proveedores, la mezcla de lotes. Cómo lo notaría: las alertas de deriva y, sobre todo, la exactitud con lotes nuevos etiquetados. Cuándo revisar: los disparadores de la derecha. Los umbrales (0.05, 40 lotes, 6 meses) son criterio del autor, no de datos de la empresa. Tiempo: 1,5 minutos.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repitiendo la frase de valor. Lo que se puede afirmar: 40 pruebas en verde, los errores se concentran donde la confianza es baja, la auditoría marcó un hallazgo (V3.1) que está declarado. Lo que no: que sirva con los vinos de la empresa. Abrir 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41020"/>
        </a:solidFill>
        <a:effectLst/>
      </p:bgPr>
    </p:bg>
    <p:spTree>
      <p:nvGrpSpPr>
        <p:cNvPr id="1" name=""/>
        <p:cNvGrpSpPr/>
        <p:nvPr/>
      </p:nvGrpSpPr>
      <p:grpSpPr/>
      <p:sp>
        <p:nvSpPr>
          <p:cNvPr id="2" name="TextBox 1"/>
          <p:cNvSpPr txBox="1"/>
          <p:nvPr/>
        </p:nvSpPr>
        <p:spPr>
          <a:xfrm>
            <a:off x="822960" y="822960"/>
            <a:ext cx="7315200" cy="365760"/>
          </a:xfrm>
          <a:prstGeom prst="rect">
            <a:avLst/>
          </a:prstGeom>
          <a:noFill/>
        </p:spPr>
        <p:txBody>
          <a:bodyPr wrap="square" lIns="0" rIns="0" tIns="0" bIns="0" anchor="t">
            <a:spAutoFit/>
          </a:bodyPr>
          <a:lstStyle/>
          <a:p>
            <a:pPr algn="l"/>
            <a:r>
              <a:rPr sz="1400" b="1" i="0">
                <a:solidFill>
                  <a:srgbClr val="E2C6D1"/>
                </a:solidFill>
                <a:latin typeface="Calibri"/>
              </a:rPr>
              <a:t>MAI 540 · CAPSTONE · TAREA 8.2</a:t>
            </a:r>
          </a:p>
        </p:txBody>
      </p:sp>
      <p:sp>
        <p:nvSpPr>
          <p:cNvPr id="3" name="titulo"/>
          <p:cNvSpPr txBox="1"/>
          <p:nvPr/>
        </p:nvSpPr>
        <p:spPr>
          <a:xfrm>
            <a:off x="822960" y="1645920"/>
            <a:ext cx="10424160" cy="2011680"/>
          </a:xfrm>
          <a:prstGeom prst="rect">
            <a:avLst/>
          </a:prstGeom>
          <a:noFill/>
        </p:spPr>
        <p:txBody>
          <a:bodyPr wrap="square" lIns="0" rIns="0" tIns="0" bIns="0" anchor="t">
            <a:spAutoFit/>
          </a:bodyPr>
          <a:lstStyle/>
          <a:p>
            <a:pPr algn="l"/>
            <a:r>
              <a:rPr sz="5400" b="1" i="0">
                <a:solidFill>
                  <a:srgbClr val="FFFFFF"/>
                </a:solidFill>
                <a:latin typeface="Cambria"/>
              </a:rPr>
              <a:t>¿A qué perfil se parece este lote de vino?</a:t>
            </a:r>
          </a:p>
        </p:txBody>
      </p:sp>
      <p:sp>
        <p:nvSpPr>
          <p:cNvPr id="4" name="TextBox 3"/>
          <p:cNvSpPr txBox="1"/>
          <p:nvPr/>
        </p:nvSpPr>
        <p:spPr>
          <a:xfrm>
            <a:off x="822960" y="3794760"/>
            <a:ext cx="10058400" cy="457200"/>
          </a:xfrm>
          <a:prstGeom prst="rect">
            <a:avLst/>
          </a:prstGeom>
          <a:noFill/>
        </p:spPr>
        <p:txBody>
          <a:bodyPr wrap="square" lIns="0" rIns="0" tIns="0" bIns="0" anchor="t">
            <a:spAutoFit/>
          </a:bodyPr>
          <a:lstStyle/>
          <a:p>
            <a:pPr algn="l"/>
            <a:r>
              <a:rPr sz="2200" b="0" i="0">
                <a:solidFill>
                  <a:srgbClr val="E2C6D1"/>
                </a:solidFill>
                <a:latin typeface="Calibri"/>
              </a:rPr>
              <a:t>Clasificador de perfil químico · Dilitio Wine Corp</a:t>
            </a:r>
          </a:p>
        </p:txBody>
      </p:sp>
      <p:sp>
        <p:nvSpPr>
          <p:cNvPr id="5" name="tarjeta de valor"/>
          <p:cNvSpPr/>
          <p:nvPr/>
        </p:nvSpPr>
        <p:spPr>
          <a:xfrm>
            <a:off x="822960" y="4572000"/>
            <a:ext cx="10515600" cy="960120"/>
          </a:xfrm>
          <a:prstGeom prst="roundRect">
            <a:avLst>
              <a:gd name="adj" fmla="val 6000"/>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valor en una frase"/>
          <p:cNvSpPr txBox="1"/>
          <p:nvPr/>
        </p:nvSpPr>
        <p:spPr>
          <a:xfrm>
            <a:off x="1097280" y="4572000"/>
            <a:ext cx="9966960" cy="960120"/>
          </a:xfrm>
          <a:prstGeom prst="rect">
            <a:avLst/>
          </a:prstGeom>
          <a:noFill/>
        </p:spPr>
        <p:txBody>
          <a:bodyPr wrap="square" lIns="0" rIns="0" tIns="0" bIns="0" anchor="ctr">
            <a:spAutoFit/>
          </a:bodyPr>
          <a:lstStyle/>
          <a:p>
            <a:pPr algn="l"/>
            <a:r>
              <a:rPr sz="2000" b="0" i="0">
                <a:solidFill>
                  <a:srgbClr val="FFFFFF"/>
                </a:solidFill>
                <a:latin typeface="Calibri"/>
              </a:rPr>
              <a:t>Convierte 13 números de laboratorio en un perfil con su confianza, y avisa cuándo no hay que creerle.</a:t>
            </a:r>
          </a:p>
        </p:txBody>
      </p:sp>
      <p:sp>
        <p:nvSpPr>
          <p:cNvPr id="7" name="TextBox 6"/>
          <p:cNvSpPr txBox="1"/>
          <p:nvPr/>
        </p:nvSpPr>
        <p:spPr>
          <a:xfrm>
            <a:off x="822960" y="6126480"/>
            <a:ext cx="10058400" cy="365760"/>
          </a:xfrm>
          <a:prstGeom prst="rect">
            <a:avLst/>
          </a:prstGeom>
          <a:noFill/>
        </p:spPr>
        <p:txBody>
          <a:bodyPr wrap="square" lIns="0" rIns="0" tIns="0" bIns="0" anchor="t">
            <a:spAutoFit/>
          </a:bodyPr>
          <a:lstStyle/>
          <a:p>
            <a:pPr algn="l"/>
            <a:r>
              <a:rPr sz="1400" b="0" i="0">
                <a:solidFill>
                  <a:srgbClr val="E2C6D1"/>
                </a:solidFill>
                <a:latin typeface="Calibri"/>
              </a:rPr>
              <a:t>mikecrv2019 · Atlantis University · Octubre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insignia 1"/>
          <p:cNvSpPr/>
          <p:nvPr/>
        </p:nvSpPr>
        <p:spPr>
          <a:xfrm>
            <a:off x="548640" y="457200"/>
            <a:ext cx="457200" cy="45720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3" name="etiqueta de parte"/>
          <p:cNvSpPr txBox="1"/>
          <p:nvPr/>
        </p:nvSpPr>
        <p:spPr>
          <a:xfrm>
            <a:off x="1188719" y="530352"/>
            <a:ext cx="8229600" cy="320040"/>
          </a:xfrm>
          <a:prstGeom prst="rect">
            <a:avLst/>
          </a:prstGeom>
          <a:noFill/>
        </p:spPr>
        <p:txBody>
          <a:bodyPr wrap="square" lIns="0" rIns="0" tIns="0" bIns="0" anchor="ctr">
            <a:spAutoFit/>
          </a:bodyPr>
          <a:lstStyle/>
          <a:p>
            <a:pPr algn="l"/>
            <a:r>
              <a:rPr sz="1300" b="1" i="0">
                <a:solidFill>
                  <a:srgbClr val="6B5A62"/>
                </a:solidFill>
                <a:latin typeface="Calibri"/>
              </a:rPr>
              <a:t>PARTE 1 · EL PROBLEMA</a:t>
            </a:r>
          </a:p>
        </p:txBody>
      </p:sp>
      <p:sp>
        <p:nvSpPr>
          <p:cNvPr id="4" name="titulo"/>
          <p:cNvSpPr txBox="1"/>
          <p:nvPr/>
        </p:nvSpPr>
        <p:spPr>
          <a:xfrm>
            <a:off x="548640" y="1097280"/>
            <a:ext cx="11064240" cy="1143000"/>
          </a:xfrm>
          <a:prstGeom prst="rect">
            <a:avLst/>
          </a:prstGeom>
          <a:noFill/>
        </p:spPr>
        <p:txBody>
          <a:bodyPr wrap="square" lIns="0" rIns="0" tIns="0" bIns="0" anchor="t">
            <a:spAutoFit/>
          </a:bodyPr>
          <a:lstStyle/>
          <a:p>
            <a:pPr algn="l"/>
            <a:r>
              <a:rPr sz="3600" b="1" i="0">
                <a:solidFill>
                  <a:srgbClr val="5E1F36"/>
                </a:solidFill>
                <a:latin typeface="Cambria"/>
              </a:rPr>
              <a:t>La empresa decide la línea de cada lote sin datos de cómo</a:t>
            </a:r>
          </a:p>
        </p:txBody>
      </p:sp>
      <p:sp>
        <p:nvSpPr>
          <p:cNvPr id="5" name="TextBox 4"/>
          <p:cNvSpPr txBox="1"/>
          <p:nvPr/>
        </p:nvSpPr>
        <p:spPr>
          <a:xfrm>
            <a:off x="548640" y="2514600"/>
            <a:ext cx="5760720" cy="3291840"/>
          </a:xfrm>
          <a:prstGeom prst="rect">
            <a:avLst/>
          </a:prstGeom>
          <a:noFill/>
        </p:spPr>
        <p:txBody>
          <a:bodyPr wrap="square" lIns="0" rIns="0" tIns="0" bIns="0" anchor="t">
            <a:spAutoFit/>
          </a:bodyPr>
          <a:lstStyle/>
          <a:p>
            <a:pPr algn="l">
              <a:spcAft>
                <a:spcPts val="1400"/>
              </a:spcAft>
            </a:pPr>
            <a:r>
              <a:rPr sz="1800" b="0" i="0">
                <a:solidFill>
                  <a:srgbClr val="2B2B2B"/>
                </a:solidFill>
                <a:latin typeface="Calibri"/>
              </a:rPr>
              <a:t>Dilitio Wine Corp quiere decidir de forma objetiva si un lote va a entrada, revisión de proceso o premium.</a:t>
            </a:r>
          </a:p>
          <a:p>
            <a:pPr algn="l">
              <a:spcAft>
                <a:spcPts val="1400"/>
              </a:spcAft>
            </a:pPr>
            <a:r>
              <a:rPr sz="1800" b="0" i="0">
                <a:solidFill>
                  <a:srgbClr val="2B2B2B"/>
                </a:solidFill>
                <a:latin typeface="Calibri"/>
              </a:rPr>
              <a:t>Hoy no hay un registro de cómo se decide.</a:t>
            </a:r>
          </a:p>
          <a:p>
            <a:pPr algn="l">
              <a:spcAft>
                <a:spcPts val="1400"/>
              </a:spcAft>
            </a:pPr>
            <a:r>
              <a:rPr sz="1800" b="0" i="0">
                <a:solidFill>
                  <a:srgbClr val="2B2B2B"/>
                </a:solidFill>
                <a:latin typeface="Calibri"/>
              </a:rPr>
              <a:t>El piloto del Módulo 5 mostró que la química separa tres perfiles.</a:t>
            </a:r>
          </a:p>
          <a:p>
            <a:pPr algn="l">
              <a:spcAft>
                <a:spcPts val="1400"/>
              </a:spcAft>
            </a:pPr>
            <a:r>
              <a:rPr sz="1800" b="0" i="0">
                <a:solidFill>
                  <a:srgbClr val="2B2B2B"/>
                </a:solidFill>
                <a:latin typeface="Calibri"/>
              </a:rPr>
              <a:t>La herramienta apoya a quien decide: no decide por esa persona.</a:t>
            </a:r>
          </a:p>
        </p:txBody>
      </p:sp>
      <p:sp>
        <p:nvSpPr>
          <p:cNvPr id="6" name="tarjeta de pregunta"/>
          <p:cNvSpPr/>
          <p:nvPr/>
        </p:nvSpPr>
        <p:spPr>
          <a:xfrm>
            <a:off x="6675120" y="2377440"/>
            <a:ext cx="4937760" cy="356616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2606040"/>
            <a:ext cx="4297680" cy="365760"/>
          </a:xfrm>
          <a:prstGeom prst="rect">
            <a:avLst/>
          </a:prstGeom>
          <a:noFill/>
        </p:spPr>
        <p:txBody>
          <a:bodyPr wrap="square" lIns="0" rIns="0" tIns="0" bIns="0" anchor="t">
            <a:spAutoFit/>
          </a:bodyPr>
          <a:lstStyle/>
          <a:p>
            <a:pPr algn="l"/>
            <a:r>
              <a:rPr sz="1300" b="1" i="0">
                <a:solidFill>
                  <a:srgbClr val="6B5A62"/>
                </a:solidFill>
                <a:latin typeface="Calibri"/>
              </a:rPr>
              <a:t>LA PREGUNTA</a:t>
            </a:r>
          </a:p>
        </p:txBody>
      </p:sp>
      <p:sp>
        <p:nvSpPr>
          <p:cNvPr id="8" name="TextBox 7"/>
          <p:cNvSpPr txBox="1"/>
          <p:nvPr/>
        </p:nvSpPr>
        <p:spPr>
          <a:xfrm>
            <a:off x="6995160" y="3017520"/>
            <a:ext cx="4297680" cy="1188720"/>
          </a:xfrm>
          <a:prstGeom prst="rect">
            <a:avLst/>
          </a:prstGeom>
          <a:noFill/>
        </p:spPr>
        <p:txBody>
          <a:bodyPr wrap="square" lIns="0" rIns="0" tIns="0" bIns="0" anchor="t">
            <a:spAutoFit/>
          </a:bodyPr>
          <a:lstStyle/>
          <a:p>
            <a:pPr algn="l"/>
            <a:r>
              <a:rPr sz="2600" b="1" i="0">
                <a:solidFill>
                  <a:srgbClr val="5E1F36"/>
                </a:solidFill>
                <a:latin typeface="Cambria"/>
              </a:rPr>
              <a:t>¿A qué perfil químico se parece este lote?</a:t>
            </a:r>
          </a:p>
        </p:txBody>
      </p:sp>
      <p:sp>
        <p:nvSpPr>
          <p:cNvPr id="9" name="perfil class_0"/>
          <p:cNvSpPr/>
          <p:nvPr/>
        </p:nvSpPr>
        <p:spPr>
          <a:xfrm>
            <a:off x="6995160" y="4434840"/>
            <a:ext cx="429768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78040" y="4434840"/>
            <a:ext cx="2011680" cy="384048"/>
          </a:xfrm>
          <a:prstGeom prst="rect">
            <a:avLst/>
          </a:prstGeom>
          <a:noFill/>
        </p:spPr>
        <p:txBody>
          <a:bodyPr wrap="square" lIns="0" rIns="0" tIns="0" bIns="0" anchor="ctr">
            <a:spAutoFit/>
          </a:bodyPr>
          <a:lstStyle/>
          <a:p>
            <a:pPr algn="l"/>
            <a:r>
              <a:rPr sz="1600" b="1" i="0">
                <a:solidFill>
                  <a:srgbClr val="5E1F36"/>
                </a:solidFill>
                <a:latin typeface="Calibri"/>
              </a:rPr>
              <a:t>class_0</a:t>
            </a:r>
          </a:p>
        </p:txBody>
      </p:sp>
      <p:sp>
        <p:nvSpPr>
          <p:cNvPr id="11" name="TextBox 10"/>
          <p:cNvSpPr txBox="1"/>
          <p:nvPr/>
        </p:nvSpPr>
        <p:spPr>
          <a:xfrm>
            <a:off x="9144000" y="4434840"/>
            <a:ext cx="2011680" cy="384048"/>
          </a:xfrm>
          <a:prstGeom prst="rect">
            <a:avLst/>
          </a:prstGeom>
          <a:noFill/>
        </p:spPr>
        <p:txBody>
          <a:bodyPr wrap="square" lIns="0" rIns="0" tIns="0" bIns="0" anchor="ctr">
            <a:spAutoFit/>
          </a:bodyPr>
          <a:lstStyle/>
          <a:p>
            <a:pPr algn="r"/>
            <a:r>
              <a:rPr sz="1600" b="0" i="0">
                <a:solidFill>
                  <a:srgbClr val="2B2B2B"/>
                </a:solidFill>
                <a:latin typeface="Calibri"/>
              </a:rPr>
              <a:t>59 lotes</a:t>
            </a:r>
          </a:p>
        </p:txBody>
      </p:sp>
      <p:sp>
        <p:nvSpPr>
          <p:cNvPr id="12" name="perfil class_1"/>
          <p:cNvSpPr/>
          <p:nvPr/>
        </p:nvSpPr>
        <p:spPr>
          <a:xfrm>
            <a:off x="6995160" y="4910327"/>
            <a:ext cx="429768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0" y="4910327"/>
            <a:ext cx="2011680" cy="384048"/>
          </a:xfrm>
          <a:prstGeom prst="rect">
            <a:avLst/>
          </a:prstGeom>
          <a:noFill/>
        </p:spPr>
        <p:txBody>
          <a:bodyPr wrap="square" lIns="0" rIns="0" tIns="0" bIns="0" anchor="ctr">
            <a:spAutoFit/>
          </a:bodyPr>
          <a:lstStyle/>
          <a:p>
            <a:pPr algn="l"/>
            <a:r>
              <a:rPr sz="1600" b="1" i="0">
                <a:solidFill>
                  <a:srgbClr val="5E1F36"/>
                </a:solidFill>
                <a:latin typeface="Calibri"/>
              </a:rPr>
              <a:t>class_1</a:t>
            </a:r>
          </a:p>
        </p:txBody>
      </p:sp>
      <p:sp>
        <p:nvSpPr>
          <p:cNvPr id="14" name="TextBox 13"/>
          <p:cNvSpPr txBox="1"/>
          <p:nvPr/>
        </p:nvSpPr>
        <p:spPr>
          <a:xfrm>
            <a:off x="9144000" y="4910327"/>
            <a:ext cx="2011680" cy="384048"/>
          </a:xfrm>
          <a:prstGeom prst="rect">
            <a:avLst/>
          </a:prstGeom>
          <a:noFill/>
        </p:spPr>
        <p:txBody>
          <a:bodyPr wrap="square" lIns="0" rIns="0" tIns="0" bIns="0" anchor="ctr">
            <a:spAutoFit/>
          </a:bodyPr>
          <a:lstStyle/>
          <a:p>
            <a:pPr algn="r"/>
            <a:r>
              <a:rPr sz="1600" b="0" i="0">
                <a:solidFill>
                  <a:srgbClr val="2B2B2B"/>
                </a:solidFill>
                <a:latin typeface="Calibri"/>
              </a:rPr>
              <a:t>71 lotes</a:t>
            </a:r>
          </a:p>
        </p:txBody>
      </p:sp>
      <p:sp>
        <p:nvSpPr>
          <p:cNvPr id="15" name="perfil class_2"/>
          <p:cNvSpPr/>
          <p:nvPr/>
        </p:nvSpPr>
        <p:spPr>
          <a:xfrm>
            <a:off x="6995160" y="5385816"/>
            <a:ext cx="429768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8040" y="5385816"/>
            <a:ext cx="2011680" cy="384048"/>
          </a:xfrm>
          <a:prstGeom prst="rect">
            <a:avLst/>
          </a:prstGeom>
          <a:noFill/>
        </p:spPr>
        <p:txBody>
          <a:bodyPr wrap="square" lIns="0" rIns="0" tIns="0" bIns="0" anchor="ctr">
            <a:spAutoFit/>
          </a:bodyPr>
          <a:lstStyle/>
          <a:p>
            <a:pPr algn="l"/>
            <a:r>
              <a:rPr sz="1600" b="1" i="0">
                <a:solidFill>
                  <a:srgbClr val="5E1F36"/>
                </a:solidFill>
                <a:latin typeface="Calibri"/>
              </a:rPr>
              <a:t>class_2</a:t>
            </a:r>
          </a:p>
        </p:txBody>
      </p:sp>
      <p:sp>
        <p:nvSpPr>
          <p:cNvPr id="17" name="TextBox 16"/>
          <p:cNvSpPr txBox="1"/>
          <p:nvPr/>
        </p:nvSpPr>
        <p:spPr>
          <a:xfrm>
            <a:off x="9144000" y="5385816"/>
            <a:ext cx="2011680" cy="384048"/>
          </a:xfrm>
          <a:prstGeom prst="rect">
            <a:avLst/>
          </a:prstGeom>
          <a:noFill/>
        </p:spPr>
        <p:txBody>
          <a:bodyPr wrap="square" lIns="0" rIns="0" tIns="0" bIns="0" anchor="ctr">
            <a:spAutoFit/>
          </a:bodyPr>
          <a:lstStyle/>
          <a:p>
            <a:pPr algn="r"/>
            <a:r>
              <a:rPr sz="1600" b="0" i="0">
                <a:solidFill>
                  <a:srgbClr val="2B2B2B"/>
                </a:solidFill>
                <a:latin typeface="Calibri"/>
              </a:rPr>
              <a:t>48 lotes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insignia 2"/>
          <p:cNvSpPr/>
          <p:nvPr/>
        </p:nvSpPr>
        <p:spPr>
          <a:xfrm>
            <a:off x="548640" y="457200"/>
            <a:ext cx="457200" cy="45720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3" name="etiqueta de parte"/>
          <p:cNvSpPr txBox="1"/>
          <p:nvPr/>
        </p:nvSpPr>
        <p:spPr>
          <a:xfrm>
            <a:off x="1188719" y="530352"/>
            <a:ext cx="8229600" cy="320040"/>
          </a:xfrm>
          <a:prstGeom prst="rect">
            <a:avLst/>
          </a:prstGeom>
          <a:noFill/>
        </p:spPr>
        <p:txBody>
          <a:bodyPr wrap="square" lIns="0" rIns="0" tIns="0" bIns="0" anchor="ctr">
            <a:spAutoFit/>
          </a:bodyPr>
          <a:lstStyle/>
          <a:p>
            <a:pPr algn="l"/>
            <a:r>
              <a:rPr sz="1300" b="1" i="0">
                <a:solidFill>
                  <a:srgbClr val="6B5A62"/>
                </a:solidFill>
                <a:latin typeface="Calibri"/>
              </a:rPr>
              <a:t>PARTE 2 · LA SOLUCIÓN</a:t>
            </a:r>
          </a:p>
        </p:txBody>
      </p:sp>
      <p:sp>
        <p:nvSpPr>
          <p:cNvPr id="4" name="titulo"/>
          <p:cNvSpPr txBox="1"/>
          <p:nvPr/>
        </p:nvSpPr>
        <p:spPr>
          <a:xfrm>
            <a:off x="548640" y="1097280"/>
            <a:ext cx="11064240" cy="1143000"/>
          </a:xfrm>
          <a:prstGeom prst="rect">
            <a:avLst/>
          </a:prstGeom>
          <a:noFill/>
        </p:spPr>
        <p:txBody>
          <a:bodyPr wrap="square" lIns="0" rIns="0" tIns="0" bIns="0" anchor="t">
            <a:spAutoFit/>
          </a:bodyPr>
          <a:lstStyle/>
          <a:p>
            <a:pPr algn="l"/>
            <a:r>
              <a:rPr sz="3600" b="1" i="0">
                <a:solidFill>
                  <a:srgbClr val="5E1F36"/>
                </a:solidFill>
                <a:latin typeface="Cambria"/>
              </a:rPr>
              <a:t>Entran 13 mediciones; salen un perfil, su confianza y avisos</a:t>
            </a:r>
          </a:p>
        </p:txBody>
      </p:sp>
      <p:sp>
        <p:nvSpPr>
          <p:cNvPr id="5" name="caja 13 mediciones"/>
          <p:cNvSpPr/>
          <p:nvPr/>
        </p:nvSpPr>
        <p:spPr>
          <a:xfrm>
            <a:off x="548640" y="2514600"/>
            <a:ext cx="3520440" cy="173736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697480"/>
            <a:ext cx="2971800" cy="548640"/>
          </a:xfrm>
          <a:prstGeom prst="rect">
            <a:avLst/>
          </a:prstGeom>
          <a:noFill/>
        </p:spPr>
        <p:txBody>
          <a:bodyPr wrap="square" lIns="0" rIns="0" tIns="0" bIns="0" anchor="t">
            <a:spAutoFit/>
          </a:bodyPr>
          <a:lstStyle/>
          <a:p>
            <a:pPr algn="l"/>
            <a:r>
              <a:rPr sz="2400" b="1" i="0">
                <a:solidFill>
                  <a:srgbClr val="5E1F36"/>
                </a:solidFill>
                <a:latin typeface="Cambria"/>
              </a:rPr>
              <a:t>13 mediciones</a:t>
            </a:r>
          </a:p>
        </p:txBody>
      </p:sp>
      <p:sp>
        <p:nvSpPr>
          <p:cNvPr id="7" name="TextBox 6"/>
          <p:cNvSpPr txBox="1"/>
          <p:nvPr/>
        </p:nvSpPr>
        <p:spPr>
          <a:xfrm>
            <a:off x="822959" y="3337560"/>
            <a:ext cx="2971800" cy="822960"/>
          </a:xfrm>
          <a:prstGeom prst="rect">
            <a:avLst/>
          </a:prstGeom>
          <a:noFill/>
        </p:spPr>
        <p:txBody>
          <a:bodyPr wrap="square" lIns="0" rIns="0" tIns="0" bIns="0" anchor="t">
            <a:spAutoFit/>
          </a:bodyPr>
          <a:lstStyle/>
          <a:p>
            <a:pPr algn="l"/>
            <a:r>
              <a:rPr sz="1600" b="0" i="0">
                <a:solidFill>
                  <a:srgbClr val="2B2B2B"/>
                </a:solidFill>
                <a:latin typeface="Calibri"/>
              </a:rPr>
              <a:t>Alcohol, prolina, magnesio, flavonoides…</a:t>
            </a:r>
          </a:p>
        </p:txBody>
      </p:sp>
      <p:sp>
        <p:nvSpPr>
          <p:cNvPr id="8" name="caja Regresión logística"/>
          <p:cNvSpPr/>
          <p:nvPr/>
        </p:nvSpPr>
        <p:spPr>
          <a:xfrm>
            <a:off x="4343400" y="2514600"/>
            <a:ext cx="3520440" cy="173736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697480"/>
            <a:ext cx="2971800" cy="548640"/>
          </a:xfrm>
          <a:prstGeom prst="rect">
            <a:avLst/>
          </a:prstGeom>
          <a:noFill/>
        </p:spPr>
        <p:txBody>
          <a:bodyPr wrap="square" lIns="0" rIns="0" tIns="0" bIns="0" anchor="t">
            <a:spAutoFit/>
          </a:bodyPr>
          <a:lstStyle/>
          <a:p>
            <a:pPr algn="l"/>
            <a:r>
              <a:rPr sz="2400" b="1" i="0">
                <a:solidFill>
                  <a:srgbClr val="5E1F36"/>
                </a:solidFill>
                <a:latin typeface="Cambria"/>
              </a:rPr>
              <a:t>Regresión logística</a:t>
            </a:r>
          </a:p>
        </p:txBody>
      </p:sp>
      <p:sp>
        <p:nvSpPr>
          <p:cNvPr id="10" name="TextBox 9"/>
          <p:cNvSpPr txBox="1"/>
          <p:nvPr/>
        </p:nvSpPr>
        <p:spPr>
          <a:xfrm>
            <a:off x="4617720" y="3337560"/>
            <a:ext cx="2971800" cy="822960"/>
          </a:xfrm>
          <a:prstGeom prst="rect">
            <a:avLst/>
          </a:prstGeom>
          <a:noFill/>
        </p:spPr>
        <p:txBody>
          <a:bodyPr wrap="square" lIns="0" rIns="0" tIns="0" bIns="0" anchor="t">
            <a:spAutoFit/>
          </a:bodyPr>
          <a:lstStyle/>
          <a:p>
            <a:pPr algn="l"/>
            <a:r>
              <a:rPr sz="1600" b="0" i="0">
                <a:solidFill>
                  <a:srgbClr val="2B2B2B"/>
                </a:solidFill>
                <a:latin typeface="Calibri"/>
              </a:rPr>
              <a:t>Escalado + modelo, entrenado con 178 lotes</a:t>
            </a:r>
          </a:p>
        </p:txBody>
      </p:sp>
      <p:sp>
        <p:nvSpPr>
          <p:cNvPr id="11" name="caja Resultado"/>
          <p:cNvSpPr/>
          <p:nvPr/>
        </p:nvSpPr>
        <p:spPr>
          <a:xfrm>
            <a:off x="8138160" y="2514600"/>
            <a:ext cx="3520440" cy="1737360"/>
          </a:xfrm>
          <a:prstGeom prst="roundRect">
            <a:avLst>
              <a:gd name="adj" fmla="val 6000"/>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697480"/>
            <a:ext cx="2971800" cy="548640"/>
          </a:xfrm>
          <a:prstGeom prst="rect">
            <a:avLst/>
          </a:prstGeom>
          <a:noFill/>
        </p:spPr>
        <p:txBody>
          <a:bodyPr wrap="square" lIns="0" rIns="0" tIns="0" bIns="0" anchor="t">
            <a:spAutoFit/>
          </a:bodyPr>
          <a:lstStyle/>
          <a:p>
            <a:pPr algn="l"/>
            <a:r>
              <a:rPr sz="2400" b="1" i="0">
                <a:solidFill>
                  <a:srgbClr val="FFFFFF"/>
                </a:solidFill>
                <a:latin typeface="Cambria"/>
              </a:rPr>
              <a:t>Resultado</a:t>
            </a:r>
          </a:p>
        </p:txBody>
      </p:sp>
      <p:sp>
        <p:nvSpPr>
          <p:cNvPr id="13" name="TextBox 12"/>
          <p:cNvSpPr txBox="1"/>
          <p:nvPr/>
        </p:nvSpPr>
        <p:spPr>
          <a:xfrm>
            <a:off x="8412480" y="3337560"/>
            <a:ext cx="2971800" cy="822960"/>
          </a:xfrm>
          <a:prstGeom prst="rect">
            <a:avLst/>
          </a:prstGeom>
          <a:noFill/>
        </p:spPr>
        <p:txBody>
          <a:bodyPr wrap="square" lIns="0" rIns="0" tIns="0" bIns="0" anchor="t">
            <a:spAutoFit/>
          </a:bodyPr>
          <a:lstStyle/>
          <a:p>
            <a:pPr algn="l"/>
            <a:r>
              <a:rPr sz="1600" b="0" i="0">
                <a:solidFill>
                  <a:srgbClr val="FFFFFF"/>
                </a:solidFill>
                <a:latin typeface="Calibri"/>
              </a:rPr>
              <a:t>Perfil, probabilidad de cada perfil y avisos</a:t>
            </a:r>
          </a:p>
        </p:txBody>
      </p:sp>
      <p:sp>
        <p:nvSpPr>
          <p:cNvPr id="14" name="flecha"/>
          <p:cNvSpPr/>
          <p:nvPr/>
        </p:nvSpPr>
        <p:spPr>
          <a:xfrm>
            <a:off x="4114800" y="3154680"/>
            <a:ext cx="256032" cy="457200"/>
          </a:xfrm>
          <a:prstGeom prst="rightArrow">
            <a:avLst/>
          </a:prstGeom>
          <a:solidFill>
            <a:srgbClr val="C7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echa"/>
          <p:cNvSpPr/>
          <p:nvPr/>
        </p:nvSpPr>
        <p:spPr>
          <a:xfrm>
            <a:off x="7909560" y="3154680"/>
            <a:ext cx="256032" cy="457200"/>
          </a:xfrm>
          <a:prstGeom prst="rightArrow">
            <a:avLst/>
          </a:prstGeom>
          <a:solidFill>
            <a:srgbClr val="C7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617720"/>
            <a:ext cx="10972800" cy="365760"/>
          </a:xfrm>
          <a:prstGeom prst="rect">
            <a:avLst/>
          </a:prstGeom>
          <a:noFill/>
        </p:spPr>
        <p:txBody>
          <a:bodyPr wrap="square" lIns="0" rIns="0" tIns="0" bIns="0" anchor="t">
            <a:spAutoFit/>
          </a:bodyPr>
          <a:lstStyle/>
          <a:p>
            <a:pPr algn="l"/>
            <a:r>
              <a:rPr sz="1300" b="1" i="0">
                <a:solidFill>
                  <a:srgbClr val="6B5A62"/>
                </a:solidFill>
                <a:latin typeface="Calibri"/>
              </a:rPr>
              <a:t>AVISOS QUE DA LA HERRAMIENTA</a:t>
            </a:r>
          </a:p>
        </p:txBody>
      </p:sp>
      <p:sp>
        <p:nvSpPr>
          <p:cNvPr id="17" name="aviso 1"/>
          <p:cNvSpPr/>
          <p:nvPr/>
        </p:nvSpPr>
        <p:spPr>
          <a:xfrm>
            <a:off x="548640" y="5029200"/>
            <a:ext cx="3566160" cy="8686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029200"/>
            <a:ext cx="3108960" cy="868680"/>
          </a:xfrm>
          <a:prstGeom prst="rect">
            <a:avLst/>
          </a:prstGeom>
          <a:noFill/>
        </p:spPr>
        <p:txBody>
          <a:bodyPr wrap="square" lIns="0" rIns="0" tIns="0" bIns="0" anchor="ctr">
            <a:spAutoFit/>
          </a:bodyPr>
          <a:lstStyle/>
          <a:p>
            <a:pPr algn="l"/>
            <a:r>
              <a:rPr sz="1600" b="1" i="0">
                <a:solidFill>
                  <a:srgbClr val="5E1F36"/>
                </a:solidFill>
                <a:latin typeface="Calibri"/>
              </a:rPr>
              <a:t>Confianza menor a 80 %</a:t>
            </a:r>
          </a:p>
        </p:txBody>
      </p:sp>
      <p:sp>
        <p:nvSpPr>
          <p:cNvPr id="19" name="aviso 2"/>
          <p:cNvSpPr/>
          <p:nvPr/>
        </p:nvSpPr>
        <p:spPr>
          <a:xfrm>
            <a:off x="4297679" y="5029200"/>
            <a:ext cx="3566160" cy="8686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79" y="5029200"/>
            <a:ext cx="3108960" cy="868680"/>
          </a:xfrm>
          <a:prstGeom prst="rect">
            <a:avLst/>
          </a:prstGeom>
          <a:noFill/>
        </p:spPr>
        <p:txBody>
          <a:bodyPr wrap="square" lIns="0" rIns="0" tIns="0" bIns="0" anchor="ctr">
            <a:spAutoFit/>
          </a:bodyPr>
          <a:lstStyle/>
          <a:p>
            <a:pPr algn="l"/>
            <a:r>
              <a:rPr sz="1600" b="1" i="0">
                <a:solidFill>
                  <a:srgbClr val="5E1F36"/>
                </a:solidFill>
                <a:latin typeface="Calibri"/>
              </a:rPr>
              <a:t>Valor fuera del rango de entrenamiento</a:t>
            </a:r>
          </a:p>
        </p:txBody>
      </p:sp>
      <p:sp>
        <p:nvSpPr>
          <p:cNvPr id="21" name="aviso 3"/>
          <p:cNvSpPr/>
          <p:nvPr/>
        </p:nvSpPr>
        <p:spPr>
          <a:xfrm>
            <a:off x="8046719" y="5029200"/>
            <a:ext cx="3566160" cy="8686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19" y="5029200"/>
            <a:ext cx="3108960" cy="868680"/>
          </a:xfrm>
          <a:prstGeom prst="rect">
            <a:avLst/>
          </a:prstGeom>
          <a:noFill/>
        </p:spPr>
        <p:txBody>
          <a:bodyPr wrap="square" lIns="0" rIns="0" tIns="0" bIns="0" anchor="ctr">
            <a:spAutoFit/>
          </a:bodyPr>
          <a:lstStyle/>
          <a:p>
            <a:pPr algn="l"/>
            <a:r>
              <a:rPr sz="1600" b="1" i="0">
                <a:solidFill>
                  <a:srgbClr val="5E1F36"/>
                </a:solidFill>
                <a:latin typeface="Calibri"/>
              </a:rPr>
              <a:t>Los datos ya no se parecen a los de entrenamiento</a:t>
            </a:r>
          </a:p>
        </p:txBody>
      </p:sp>
      <p:sp>
        <p:nvSpPr>
          <p:cNvPr id="23" name="TextBox 22"/>
          <p:cNvSpPr txBox="1"/>
          <p:nvPr/>
        </p:nvSpPr>
        <p:spPr>
          <a:xfrm>
            <a:off x="548640" y="6172200"/>
            <a:ext cx="10972800" cy="320040"/>
          </a:xfrm>
          <a:prstGeom prst="rect">
            <a:avLst/>
          </a:prstGeom>
          <a:noFill/>
        </p:spPr>
        <p:txBody>
          <a:bodyPr wrap="square" lIns="0" rIns="0" tIns="0" bIns="0" anchor="t">
            <a:spAutoFit/>
          </a:bodyPr>
          <a:lstStyle/>
          <a:p>
            <a:pPr algn="l"/>
            <a:r>
              <a:rPr sz="1400" b="0" i="0">
                <a:solidFill>
                  <a:srgbClr val="6B5A62"/>
                </a:solidFill>
                <a:latin typeface="Calibri"/>
              </a:rPr>
              <a:t>Se usa en una app web local (Gradio), por línea de comandos o con un archivo 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insignia 3"/>
          <p:cNvSpPr/>
          <p:nvPr/>
        </p:nvSpPr>
        <p:spPr>
          <a:xfrm>
            <a:off x="548640" y="457200"/>
            <a:ext cx="457200" cy="45720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3" name="etiqueta de parte"/>
          <p:cNvSpPr txBox="1"/>
          <p:nvPr/>
        </p:nvSpPr>
        <p:spPr>
          <a:xfrm>
            <a:off x="1188719" y="530352"/>
            <a:ext cx="8229600" cy="320040"/>
          </a:xfrm>
          <a:prstGeom prst="rect">
            <a:avLst/>
          </a:prstGeom>
          <a:noFill/>
        </p:spPr>
        <p:txBody>
          <a:bodyPr wrap="square" lIns="0" rIns="0" tIns="0" bIns="0" anchor="ctr">
            <a:spAutoFit/>
          </a:bodyPr>
          <a:lstStyle/>
          <a:p>
            <a:pPr algn="l"/>
            <a:r>
              <a:rPr sz="1300" b="1" i="0">
                <a:solidFill>
                  <a:srgbClr val="6B5A62"/>
                </a:solidFill>
                <a:latin typeface="Calibri"/>
              </a:rPr>
              <a:t>PARTE 3 · LAS DECISIONES TÉCNICAS</a:t>
            </a:r>
          </a:p>
        </p:txBody>
      </p:sp>
      <p:sp>
        <p:nvSpPr>
          <p:cNvPr id="4" name="titulo"/>
          <p:cNvSpPr txBox="1"/>
          <p:nvPr/>
        </p:nvSpPr>
        <p:spPr>
          <a:xfrm>
            <a:off x="548640" y="1097280"/>
            <a:ext cx="11064240" cy="1143000"/>
          </a:xfrm>
          <a:prstGeom prst="rect">
            <a:avLst/>
          </a:prstGeom>
          <a:noFill/>
        </p:spPr>
        <p:txBody>
          <a:bodyPr wrap="square" lIns="0" rIns="0" tIns="0" bIns="0" anchor="t">
            <a:spAutoFit/>
          </a:bodyPr>
          <a:lstStyle/>
          <a:p>
            <a:pPr algn="l"/>
            <a:r>
              <a:rPr sz="3600" b="1" i="0">
                <a:solidFill>
                  <a:srgbClr val="5E1F36"/>
                </a:solidFill>
                <a:latin typeface="Cambria"/>
              </a:rPr>
              <a:t>Cuatro decisiones para no engañarnos con el resultado</a:t>
            </a:r>
          </a:p>
        </p:txBody>
      </p:sp>
      <p:sp>
        <p:nvSpPr>
          <p:cNvPr id="5" name="decision 1"/>
          <p:cNvSpPr/>
          <p:nvPr/>
        </p:nvSpPr>
        <p:spPr>
          <a:xfrm>
            <a:off x="548640" y="2377440"/>
            <a:ext cx="5394960" cy="182880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ero 1"/>
          <p:cNvSpPr/>
          <p:nvPr/>
        </p:nvSpPr>
        <p:spPr>
          <a:xfrm>
            <a:off x="822959" y="2651760"/>
            <a:ext cx="502920" cy="50292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651760"/>
            <a:ext cx="502920" cy="502920"/>
          </a:xfrm>
          <a:prstGeom prst="rect">
            <a:avLst/>
          </a:prstGeom>
          <a:noFill/>
        </p:spPr>
        <p:txBody>
          <a:bodyPr wrap="square" lIns="0" rIns="0" tIns="0" bIns="0" anchor="ctr">
            <a:spAutoFit/>
          </a:bodyPr>
          <a:lstStyle/>
          <a:p>
            <a:pPr algn="ctr"/>
            <a:r>
              <a:rPr sz="1800" b="1" i="0">
                <a:solidFill>
                  <a:srgbClr val="FFFFFF"/>
                </a:solidFill>
                <a:latin typeface="Cambria"/>
              </a:rPr>
              <a:t>1</a:t>
            </a:r>
          </a:p>
        </p:txBody>
      </p:sp>
      <p:sp>
        <p:nvSpPr>
          <p:cNvPr id="8" name="TextBox 7"/>
          <p:cNvSpPr txBox="1"/>
          <p:nvPr/>
        </p:nvSpPr>
        <p:spPr>
          <a:xfrm>
            <a:off x="1554480" y="2633472"/>
            <a:ext cx="4114800" cy="594360"/>
          </a:xfrm>
          <a:prstGeom prst="rect">
            <a:avLst/>
          </a:prstGeom>
          <a:noFill/>
        </p:spPr>
        <p:txBody>
          <a:bodyPr wrap="square" lIns="0" rIns="0" tIns="0" bIns="0" anchor="ctr">
            <a:spAutoFit/>
          </a:bodyPr>
          <a:lstStyle/>
          <a:p>
            <a:pPr algn="l"/>
            <a:r>
              <a:rPr sz="1900" b="1" i="0">
                <a:solidFill>
                  <a:srgbClr val="5E1F36"/>
                </a:solidFill>
                <a:latin typeface="Cambria"/>
              </a:rPr>
              <a:t>Prueba final apartada</a:t>
            </a:r>
          </a:p>
        </p:txBody>
      </p:sp>
      <p:sp>
        <p:nvSpPr>
          <p:cNvPr id="9" name="TextBox 8"/>
          <p:cNvSpPr txBox="1"/>
          <p:nvPr/>
        </p:nvSpPr>
        <p:spPr>
          <a:xfrm>
            <a:off x="822959" y="3337560"/>
            <a:ext cx="4846320" cy="777240"/>
          </a:xfrm>
          <a:prstGeom prst="rect">
            <a:avLst/>
          </a:prstGeom>
          <a:noFill/>
        </p:spPr>
        <p:txBody>
          <a:bodyPr wrap="square" lIns="0" rIns="0" tIns="0" bIns="0" anchor="t">
            <a:spAutoFit/>
          </a:bodyPr>
          <a:lstStyle/>
          <a:p>
            <a:pPr algn="l"/>
            <a:r>
              <a:rPr sz="1500" b="0" i="0">
                <a:solidFill>
                  <a:srgbClr val="2B2B2B"/>
                </a:solidFill>
                <a:latin typeface="Calibri"/>
              </a:rPr>
              <a:t>El 20 % de los lotes (36) no interviene en ninguna decisión y se mide una sola vez.</a:t>
            </a:r>
          </a:p>
        </p:txBody>
      </p:sp>
      <p:sp>
        <p:nvSpPr>
          <p:cNvPr id="10" name="decision 2"/>
          <p:cNvSpPr/>
          <p:nvPr/>
        </p:nvSpPr>
        <p:spPr>
          <a:xfrm>
            <a:off x="6217920" y="2377440"/>
            <a:ext cx="5394960" cy="182880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ero 2"/>
          <p:cNvSpPr/>
          <p:nvPr/>
        </p:nvSpPr>
        <p:spPr>
          <a:xfrm>
            <a:off x="6492240" y="2651760"/>
            <a:ext cx="502920" cy="50292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651760"/>
            <a:ext cx="502920" cy="502920"/>
          </a:xfrm>
          <a:prstGeom prst="rect">
            <a:avLst/>
          </a:prstGeom>
          <a:noFill/>
        </p:spPr>
        <p:txBody>
          <a:bodyPr wrap="square" lIns="0" rIns="0" tIns="0" bIns="0" anchor="ctr">
            <a:spAutoFit/>
          </a:bodyPr>
          <a:lstStyle/>
          <a:p>
            <a:pPr algn="ctr"/>
            <a:r>
              <a:rPr sz="1800" b="1" i="0">
                <a:solidFill>
                  <a:srgbClr val="FFFFFF"/>
                </a:solidFill>
                <a:latin typeface="Cambria"/>
              </a:rPr>
              <a:t>2</a:t>
            </a:r>
          </a:p>
        </p:txBody>
      </p:sp>
      <p:sp>
        <p:nvSpPr>
          <p:cNvPr id="13" name="TextBox 12"/>
          <p:cNvSpPr txBox="1"/>
          <p:nvPr/>
        </p:nvSpPr>
        <p:spPr>
          <a:xfrm>
            <a:off x="7223760" y="2633472"/>
            <a:ext cx="4114800" cy="594360"/>
          </a:xfrm>
          <a:prstGeom prst="rect">
            <a:avLst/>
          </a:prstGeom>
          <a:noFill/>
        </p:spPr>
        <p:txBody>
          <a:bodyPr wrap="square" lIns="0" rIns="0" tIns="0" bIns="0" anchor="ctr">
            <a:spAutoFit/>
          </a:bodyPr>
          <a:lstStyle/>
          <a:p>
            <a:pPr algn="l"/>
            <a:r>
              <a:rPr sz="1900" b="1" i="0">
                <a:solidFill>
                  <a:srgbClr val="5E1F36"/>
                </a:solidFill>
                <a:latin typeface="Cambria"/>
              </a:rPr>
              <a:t>Línea base y validación cruzada 5×3</a:t>
            </a:r>
          </a:p>
        </p:txBody>
      </p:sp>
      <p:sp>
        <p:nvSpPr>
          <p:cNvPr id="14" name="TextBox 13"/>
          <p:cNvSpPr txBox="1"/>
          <p:nvPr/>
        </p:nvSpPr>
        <p:spPr>
          <a:xfrm>
            <a:off x="6492240" y="3337560"/>
            <a:ext cx="4846320" cy="777240"/>
          </a:xfrm>
          <a:prstGeom prst="rect">
            <a:avLst/>
          </a:prstGeom>
          <a:noFill/>
        </p:spPr>
        <p:txBody>
          <a:bodyPr wrap="square" lIns="0" rIns="0" tIns="0" bIns="0" anchor="t">
            <a:spAutoFit/>
          </a:bodyPr>
          <a:lstStyle/>
          <a:p>
            <a:pPr algn="l"/>
            <a:r>
              <a:rPr sz="1500" b="0" i="0">
                <a:solidFill>
                  <a:srgbClr val="2B2B2B"/>
                </a:solidFill>
                <a:latin typeface="Calibri"/>
              </a:rPr>
              <a:t>Siempre la clase mayoritaria (0.401) contra 4 modelos; media y desviación de 15 estimaciones.</a:t>
            </a:r>
          </a:p>
        </p:txBody>
      </p:sp>
      <p:sp>
        <p:nvSpPr>
          <p:cNvPr id="15" name="decision 3"/>
          <p:cNvSpPr/>
          <p:nvPr/>
        </p:nvSpPr>
        <p:spPr>
          <a:xfrm>
            <a:off x="548640" y="4434840"/>
            <a:ext cx="5394960" cy="182880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ero 3"/>
          <p:cNvSpPr/>
          <p:nvPr/>
        </p:nvSpPr>
        <p:spPr>
          <a:xfrm>
            <a:off x="822959" y="4709159"/>
            <a:ext cx="502920" cy="50292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709159"/>
            <a:ext cx="502920" cy="502920"/>
          </a:xfrm>
          <a:prstGeom prst="rect">
            <a:avLst/>
          </a:prstGeom>
          <a:noFill/>
        </p:spPr>
        <p:txBody>
          <a:bodyPr wrap="square" lIns="0" rIns="0" tIns="0" bIns="0" anchor="ctr">
            <a:spAutoFit/>
          </a:bodyPr>
          <a:lstStyle/>
          <a:p>
            <a:pPr algn="ctr"/>
            <a:r>
              <a:rPr sz="1800" b="1" i="0">
                <a:solidFill>
                  <a:srgbClr val="FFFFFF"/>
                </a:solidFill>
                <a:latin typeface="Cambria"/>
              </a:rPr>
              <a:t>3</a:t>
            </a:r>
          </a:p>
        </p:txBody>
      </p:sp>
      <p:sp>
        <p:nvSpPr>
          <p:cNvPr id="18" name="TextBox 17"/>
          <p:cNvSpPr txBox="1"/>
          <p:nvPr/>
        </p:nvSpPr>
        <p:spPr>
          <a:xfrm>
            <a:off x="1554480" y="4690872"/>
            <a:ext cx="4114800" cy="594360"/>
          </a:xfrm>
          <a:prstGeom prst="rect">
            <a:avLst/>
          </a:prstGeom>
          <a:noFill/>
        </p:spPr>
        <p:txBody>
          <a:bodyPr wrap="square" lIns="0" rIns="0" tIns="0" bIns="0" anchor="ctr">
            <a:spAutoFit/>
          </a:bodyPr>
          <a:lstStyle/>
          <a:p>
            <a:pPr algn="l"/>
            <a:r>
              <a:rPr sz="1900" b="1" i="0">
                <a:solidFill>
                  <a:srgbClr val="5E1F36"/>
                </a:solidFill>
                <a:latin typeface="Cambria"/>
              </a:rPr>
              <a:t>Criterio escrito antes de ver la prueba</a:t>
            </a:r>
          </a:p>
        </p:txBody>
      </p:sp>
      <p:sp>
        <p:nvSpPr>
          <p:cNvPr id="19" name="TextBox 18"/>
          <p:cNvSpPr txBox="1"/>
          <p:nvPr/>
        </p:nvSpPr>
        <p:spPr>
          <a:xfrm>
            <a:off x="822959" y="5394959"/>
            <a:ext cx="4846320" cy="777240"/>
          </a:xfrm>
          <a:prstGeom prst="rect">
            <a:avLst/>
          </a:prstGeom>
          <a:noFill/>
        </p:spPr>
        <p:txBody>
          <a:bodyPr wrap="square" lIns="0" rIns="0" tIns="0" bIns="0" anchor="t">
            <a:spAutoFit/>
          </a:bodyPr>
          <a:lstStyle/>
          <a:p>
            <a:pPr algn="l"/>
            <a:r>
              <a:rPr sz="1500" b="0" i="0">
                <a:solidFill>
                  <a:srgbClr val="2B2B2B"/>
                </a:solidFill>
                <a:latin typeface="Calibri"/>
              </a:rPr>
              <a:t>F1 macro; superar la base por 0.10; entre equivalentes, el más simple: regresión logística.</a:t>
            </a:r>
          </a:p>
        </p:txBody>
      </p:sp>
      <p:sp>
        <p:nvSpPr>
          <p:cNvPr id="20" name="decision 4"/>
          <p:cNvSpPr/>
          <p:nvPr/>
        </p:nvSpPr>
        <p:spPr>
          <a:xfrm>
            <a:off x="6217920" y="4434840"/>
            <a:ext cx="5394960" cy="182880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ero 4"/>
          <p:cNvSpPr/>
          <p:nvPr/>
        </p:nvSpPr>
        <p:spPr>
          <a:xfrm>
            <a:off x="6492240" y="4709159"/>
            <a:ext cx="502920" cy="50292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709159"/>
            <a:ext cx="502920" cy="502920"/>
          </a:xfrm>
          <a:prstGeom prst="rect">
            <a:avLst/>
          </a:prstGeom>
          <a:noFill/>
        </p:spPr>
        <p:txBody>
          <a:bodyPr wrap="square" lIns="0" rIns="0" tIns="0" bIns="0" anchor="ctr">
            <a:spAutoFit/>
          </a:bodyPr>
          <a:lstStyle/>
          <a:p>
            <a:pPr algn="ctr"/>
            <a:r>
              <a:rPr sz="1800" b="1" i="0">
                <a:solidFill>
                  <a:srgbClr val="FFFFFF"/>
                </a:solidFill>
                <a:latin typeface="Cambria"/>
              </a:rPr>
              <a:t>4</a:t>
            </a:r>
          </a:p>
        </p:txBody>
      </p:sp>
      <p:sp>
        <p:nvSpPr>
          <p:cNvPr id="23" name="TextBox 22"/>
          <p:cNvSpPr txBox="1"/>
          <p:nvPr/>
        </p:nvSpPr>
        <p:spPr>
          <a:xfrm>
            <a:off x="7223760" y="4690872"/>
            <a:ext cx="4114800" cy="594360"/>
          </a:xfrm>
          <a:prstGeom prst="rect">
            <a:avLst/>
          </a:prstGeom>
          <a:noFill/>
        </p:spPr>
        <p:txBody>
          <a:bodyPr wrap="square" lIns="0" rIns="0" tIns="0" bIns="0" anchor="ctr">
            <a:spAutoFit/>
          </a:bodyPr>
          <a:lstStyle/>
          <a:p>
            <a:pPr algn="l"/>
            <a:r>
              <a:rPr sz="1900" b="1" i="0">
                <a:solidFill>
                  <a:srgbClr val="5E1F36"/>
                </a:solidFill>
                <a:latin typeface="Cambria"/>
              </a:rPr>
              <a:t>Escalado dentro del Pipeline</a:t>
            </a:r>
          </a:p>
        </p:txBody>
      </p:sp>
      <p:sp>
        <p:nvSpPr>
          <p:cNvPr id="24" name="TextBox 23"/>
          <p:cNvSpPr txBox="1"/>
          <p:nvPr/>
        </p:nvSpPr>
        <p:spPr>
          <a:xfrm>
            <a:off x="6492240" y="5394959"/>
            <a:ext cx="4846320" cy="777240"/>
          </a:xfrm>
          <a:prstGeom prst="rect">
            <a:avLst/>
          </a:prstGeom>
          <a:noFill/>
        </p:spPr>
        <p:txBody>
          <a:bodyPr wrap="square" lIns="0" rIns="0" tIns="0" bIns="0" anchor="t">
            <a:spAutoFit/>
          </a:bodyPr>
          <a:lstStyle/>
          <a:p>
            <a:pPr algn="l"/>
            <a:r>
              <a:rPr sz="1500" b="0" i="0">
                <a:solidFill>
                  <a:srgbClr val="2B2B2B"/>
                </a:solidFill>
                <a:latin typeface="Calibri"/>
              </a:rPr>
              <a:t>Se ajusta solo con el entrenamiento de cada pliegue: sin fuga de información.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insignia 4"/>
          <p:cNvSpPr/>
          <p:nvPr/>
        </p:nvSpPr>
        <p:spPr>
          <a:xfrm>
            <a:off x="548640" y="457200"/>
            <a:ext cx="457200" cy="45720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4</a:t>
            </a:r>
          </a:p>
        </p:txBody>
      </p:sp>
      <p:sp>
        <p:nvSpPr>
          <p:cNvPr id="3" name="etiqueta de parte"/>
          <p:cNvSpPr txBox="1"/>
          <p:nvPr/>
        </p:nvSpPr>
        <p:spPr>
          <a:xfrm>
            <a:off x="1188719" y="530352"/>
            <a:ext cx="8229600" cy="320040"/>
          </a:xfrm>
          <a:prstGeom prst="rect">
            <a:avLst/>
          </a:prstGeom>
          <a:noFill/>
        </p:spPr>
        <p:txBody>
          <a:bodyPr wrap="square" lIns="0" rIns="0" tIns="0" bIns="0" anchor="ctr">
            <a:spAutoFit/>
          </a:bodyPr>
          <a:lstStyle/>
          <a:p>
            <a:pPr algn="l"/>
            <a:r>
              <a:rPr sz="1300" b="1" i="0">
                <a:solidFill>
                  <a:srgbClr val="6B5A62"/>
                </a:solidFill>
                <a:latin typeface="Calibri"/>
              </a:rPr>
              <a:t>PARTE 4 · LOS RESULTADOS</a:t>
            </a:r>
          </a:p>
        </p:txBody>
      </p:sp>
      <p:sp>
        <p:nvSpPr>
          <p:cNvPr id="4" name="titulo"/>
          <p:cNvSpPr txBox="1"/>
          <p:nvPr/>
        </p:nvSpPr>
        <p:spPr>
          <a:xfrm>
            <a:off x="548640" y="1097280"/>
            <a:ext cx="11064240" cy="1143000"/>
          </a:xfrm>
          <a:prstGeom prst="rect">
            <a:avLst/>
          </a:prstGeom>
          <a:noFill/>
        </p:spPr>
        <p:txBody>
          <a:bodyPr wrap="square" lIns="0" rIns="0" tIns="0" bIns="0" anchor="t">
            <a:spAutoFit/>
          </a:bodyPr>
          <a:lstStyle/>
          <a:p>
            <a:pPr algn="l"/>
            <a:r>
              <a:rPr sz="3600" b="1" i="0">
                <a:solidFill>
                  <a:srgbClr val="5E1F36"/>
                </a:solidFill>
                <a:latin typeface="Cambria"/>
              </a:rPr>
              <a:t>La regresión logística acierta 0.981 frente a 0.401 de la línea base</a:t>
            </a:r>
          </a:p>
        </p:txBody>
      </p:sp>
      <p:graphicFrame>
        <p:nvGraphicFramePr>
          <p:cNvPr id="5" name="grafico F1 macro por modelo"/>
          <p:cNvGraphicFramePr>
            <a:graphicFrameLocks noGrp="1"/>
          </p:cNvGraphicFramePr>
          <p:nvPr/>
        </p:nvGraphicFramePr>
        <p:xfrm>
          <a:off x="548640" y="2377440"/>
          <a:ext cx="6766560" cy="3840480"/>
        </p:xfrm>
        <a:graphic>
          <a:graphicData uri="http://schemas.openxmlformats.org/drawingml/2006/chart">
            <c:chart xmlns:c="http://schemas.openxmlformats.org/drawingml/2006/chart" r:id="rId2"/>
          </a:graphicData>
        </a:graphic>
      </p:graphicFrame>
      <p:sp>
        <p:nvSpPr>
          <p:cNvPr id="6" name="tarjeta de cifra"/>
          <p:cNvSpPr/>
          <p:nvPr/>
        </p:nvSpPr>
        <p:spPr>
          <a:xfrm>
            <a:off x="7772400" y="2377440"/>
            <a:ext cx="3840480" cy="13258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2487168"/>
            <a:ext cx="3383280" cy="685800"/>
          </a:xfrm>
          <a:prstGeom prst="rect">
            <a:avLst/>
          </a:prstGeom>
          <a:noFill/>
        </p:spPr>
        <p:txBody>
          <a:bodyPr wrap="square" lIns="0" rIns="0" tIns="0" bIns="0" anchor="ctr">
            <a:spAutoFit/>
          </a:bodyPr>
          <a:lstStyle/>
          <a:p>
            <a:pPr algn="l"/>
            <a:r>
              <a:rPr sz="4000" b="1" i="0">
                <a:solidFill>
                  <a:srgbClr val="5E1F36"/>
                </a:solidFill>
                <a:latin typeface="Cambria"/>
              </a:rPr>
              <a:t>0.981 ± 0.022</a:t>
            </a:r>
          </a:p>
        </p:txBody>
      </p:sp>
      <p:sp>
        <p:nvSpPr>
          <p:cNvPr id="8" name="TextBox 7"/>
          <p:cNvSpPr txBox="1"/>
          <p:nvPr/>
        </p:nvSpPr>
        <p:spPr>
          <a:xfrm>
            <a:off x="8001000" y="3182112"/>
            <a:ext cx="3383280" cy="457200"/>
          </a:xfrm>
          <a:prstGeom prst="rect">
            <a:avLst/>
          </a:prstGeom>
          <a:noFill/>
        </p:spPr>
        <p:txBody>
          <a:bodyPr wrap="square" lIns="0" rIns="0" tIns="0" bIns="0" anchor="t">
            <a:spAutoFit/>
          </a:bodyPr>
          <a:lstStyle/>
          <a:p>
            <a:pPr algn="l"/>
            <a:r>
              <a:rPr sz="1400" b="0" i="0">
                <a:solidFill>
                  <a:srgbClr val="2B2B2B"/>
                </a:solidFill>
                <a:latin typeface="Calibri"/>
              </a:rPr>
              <a:t>F1 macro, validación cruzada 5×3 (142 lotes)</a:t>
            </a:r>
          </a:p>
        </p:txBody>
      </p:sp>
      <p:sp>
        <p:nvSpPr>
          <p:cNvPr id="9" name="tarjeta de cifra"/>
          <p:cNvSpPr/>
          <p:nvPr/>
        </p:nvSpPr>
        <p:spPr>
          <a:xfrm>
            <a:off x="7772400" y="3931920"/>
            <a:ext cx="3840480" cy="13258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4041648"/>
            <a:ext cx="3383280" cy="685800"/>
          </a:xfrm>
          <a:prstGeom prst="rect">
            <a:avLst/>
          </a:prstGeom>
          <a:noFill/>
        </p:spPr>
        <p:txBody>
          <a:bodyPr wrap="square" lIns="0" rIns="0" tIns="0" bIns="0" anchor="ctr">
            <a:spAutoFit/>
          </a:bodyPr>
          <a:lstStyle/>
          <a:p>
            <a:pPr algn="l"/>
            <a:r>
              <a:rPr sz="4000" b="1" i="0">
                <a:solidFill>
                  <a:srgbClr val="5E1F36"/>
                </a:solidFill>
                <a:latin typeface="Cambria"/>
              </a:rPr>
              <a:t>35 de 36</a:t>
            </a:r>
          </a:p>
        </p:txBody>
      </p:sp>
      <p:sp>
        <p:nvSpPr>
          <p:cNvPr id="11" name="TextBox 10"/>
          <p:cNvSpPr txBox="1"/>
          <p:nvPr/>
        </p:nvSpPr>
        <p:spPr>
          <a:xfrm>
            <a:off x="8001000" y="4736592"/>
            <a:ext cx="3383280" cy="457200"/>
          </a:xfrm>
          <a:prstGeom prst="rect">
            <a:avLst/>
          </a:prstGeom>
          <a:noFill/>
        </p:spPr>
        <p:txBody>
          <a:bodyPr wrap="square" lIns="0" rIns="0" tIns="0" bIns="0" anchor="t">
            <a:spAutoFit/>
          </a:bodyPr>
          <a:lstStyle/>
          <a:p>
            <a:pPr algn="l"/>
            <a:r>
              <a:rPr sz="1400" b="0" i="0">
                <a:solidFill>
                  <a:srgbClr val="2B2B2B"/>
                </a:solidFill>
                <a:latin typeface="Calibri"/>
              </a:rPr>
              <a:t>lotes acertados en la prueba final (0.972)</a:t>
            </a:r>
          </a:p>
        </p:txBody>
      </p:sp>
      <p:sp>
        <p:nvSpPr>
          <p:cNvPr id="12" name="TextBox 11"/>
          <p:cNvSpPr txBox="1"/>
          <p:nvPr/>
        </p:nvSpPr>
        <p:spPr>
          <a:xfrm>
            <a:off x="7772400" y="5486400"/>
            <a:ext cx="3840480" cy="731520"/>
          </a:xfrm>
          <a:prstGeom prst="rect">
            <a:avLst/>
          </a:prstGeom>
          <a:noFill/>
        </p:spPr>
        <p:txBody>
          <a:bodyPr wrap="square" lIns="0" rIns="0" tIns="0" bIns="0" anchor="t">
            <a:spAutoFit/>
          </a:bodyPr>
          <a:lstStyle/>
          <a:p>
            <a:pPr algn="l"/>
            <a:r>
              <a:rPr sz="1400" b="0" i="0">
                <a:solidFill>
                  <a:srgbClr val="6B5A62"/>
                </a:solidFill>
                <a:latin typeface="Calibri"/>
              </a:rPr>
              <a:t>Es un conjunto fácil: 0.98 no prueba que sirva con los vinos de la empresa.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insignia 4"/>
          <p:cNvSpPr/>
          <p:nvPr/>
        </p:nvSpPr>
        <p:spPr>
          <a:xfrm>
            <a:off x="548640" y="457200"/>
            <a:ext cx="457200" cy="45720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4</a:t>
            </a:r>
          </a:p>
        </p:txBody>
      </p:sp>
      <p:sp>
        <p:nvSpPr>
          <p:cNvPr id="3" name="etiqueta de parte"/>
          <p:cNvSpPr txBox="1"/>
          <p:nvPr/>
        </p:nvSpPr>
        <p:spPr>
          <a:xfrm>
            <a:off x="1188719" y="530352"/>
            <a:ext cx="8229600" cy="320040"/>
          </a:xfrm>
          <a:prstGeom prst="rect">
            <a:avLst/>
          </a:prstGeom>
          <a:noFill/>
        </p:spPr>
        <p:txBody>
          <a:bodyPr wrap="square" lIns="0" rIns="0" tIns="0" bIns="0" anchor="ctr">
            <a:spAutoFit/>
          </a:bodyPr>
          <a:lstStyle/>
          <a:p>
            <a:pPr algn="l"/>
            <a:r>
              <a:rPr sz="1300" b="1" i="0">
                <a:solidFill>
                  <a:srgbClr val="6B5A62"/>
                </a:solidFill>
                <a:latin typeface="Calibri"/>
              </a:rPr>
              <a:t>PARTE 4 · ERRORES POR CATEGORÍA</a:t>
            </a:r>
          </a:p>
        </p:txBody>
      </p:sp>
      <p:sp>
        <p:nvSpPr>
          <p:cNvPr id="4" name="titulo"/>
          <p:cNvSpPr txBox="1"/>
          <p:nvPr/>
        </p:nvSpPr>
        <p:spPr>
          <a:xfrm>
            <a:off x="548640" y="1097280"/>
            <a:ext cx="11064240" cy="1143000"/>
          </a:xfrm>
          <a:prstGeom prst="rect">
            <a:avLst/>
          </a:prstGeom>
          <a:noFill/>
        </p:spPr>
        <p:txBody>
          <a:bodyPr wrap="square" lIns="0" rIns="0" tIns="0" bIns="0" anchor="t">
            <a:spAutoFit/>
          </a:bodyPr>
          <a:lstStyle/>
          <a:p>
            <a:pPr algn="l"/>
            <a:r>
              <a:rPr sz="3600" b="1" i="0">
                <a:solidFill>
                  <a:srgbClr val="5E1F36"/>
                </a:solidFill>
                <a:latin typeface="Cambria"/>
              </a:rPr>
              <a:t>Los 3 errores están donde la confianza es baja</a:t>
            </a:r>
          </a:p>
        </p:txBody>
      </p:sp>
      <p:sp>
        <p:nvSpPr>
          <p:cNvPr id="5" name="tarjeta figura"/>
          <p:cNvSpPr/>
          <p:nvPr/>
        </p:nvSpPr>
        <p:spPr>
          <a:xfrm>
            <a:off x="548640" y="2377440"/>
            <a:ext cx="6766560" cy="37490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errores_confianza.png"/>
          <p:cNvPicPr>
            <a:picLocks noChangeAspect="1"/>
          </p:cNvPicPr>
          <p:nvPr/>
        </p:nvPicPr>
        <p:blipFill>
          <a:blip r:embed="rId2"/>
          <a:stretch>
            <a:fillRect/>
          </a:stretch>
        </p:blipFill>
        <p:spPr>
          <a:xfrm>
            <a:off x="640080" y="2560320"/>
            <a:ext cx="6583680" cy="3497580"/>
          </a:xfrm>
          <a:prstGeom prst="rect">
            <a:avLst/>
          </a:prstGeom>
        </p:spPr>
      </p:pic>
      <p:sp>
        <p:nvSpPr>
          <p:cNvPr id="7" name="tarjeta de cifra"/>
          <p:cNvSpPr/>
          <p:nvPr/>
        </p:nvSpPr>
        <p:spPr>
          <a:xfrm>
            <a:off x="7772400" y="2377440"/>
            <a:ext cx="3840480" cy="13258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2487168"/>
            <a:ext cx="3383280" cy="685800"/>
          </a:xfrm>
          <a:prstGeom prst="rect">
            <a:avLst/>
          </a:prstGeom>
          <a:noFill/>
        </p:spPr>
        <p:txBody>
          <a:bodyPr wrap="square" lIns="0" rIns="0" tIns="0" bIns="0" anchor="ctr">
            <a:spAutoFit/>
          </a:bodyPr>
          <a:lstStyle/>
          <a:p>
            <a:pPr algn="l"/>
            <a:r>
              <a:rPr sz="4000" b="1" i="0">
                <a:solidFill>
                  <a:srgbClr val="5E1F36"/>
                </a:solidFill>
                <a:latin typeface="Cambria"/>
              </a:rPr>
              <a:t>3 de 178</a:t>
            </a:r>
          </a:p>
        </p:txBody>
      </p:sp>
      <p:sp>
        <p:nvSpPr>
          <p:cNvPr id="9" name="TextBox 8"/>
          <p:cNvSpPr txBox="1"/>
          <p:nvPr/>
        </p:nvSpPr>
        <p:spPr>
          <a:xfrm>
            <a:off x="8001000" y="3182112"/>
            <a:ext cx="3383280" cy="457200"/>
          </a:xfrm>
          <a:prstGeom prst="rect">
            <a:avLst/>
          </a:prstGeom>
          <a:noFill/>
        </p:spPr>
        <p:txBody>
          <a:bodyPr wrap="square" lIns="0" rIns="0" tIns="0" bIns="0" anchor="t">
            <a:spAutoFit/>
          </a:bodyPr>
          <a:lstStyle/>
          <a:p>
            <a:pPr algn="l"/>
            <a:r>
              <a:rPr sz="1400" b="0" i="0">
                <a:solidFill>
                  <a:srgbClr val="2B2B2B"/>
                </a:solidFill>
                <a:latin typeface="Calibri"/>
              </a:rPr>
              <a:t>lotes mal clasificados: 2 de class_1, 1 de class_2</a:t>
            </a:r>
          </a:p>
        </p:txBody>
      </p:sp>
      <p:sp>
        <p:nvSpPr>
          <p:cNvPr id="10" name="tarjeta de cifra"/>
          <p:cNvSpPr/>
          <p:nvPr/>
        </p:nvSpPr>
        <p:spPr>
          <a:xfrm>
            <a:off x="7772400" y="3840480"/>
            <a:ext cx="3840480" cy="13258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3950208"/>
            <a:ext cx="3383280" cy="685800"/>
          </a:xfrm>
          <a:prstGeom prst="rect">
            <a:avLst/>
          </a:prstGeom>
          <a:noFill/>
        </p:spPr>
        <p:txBody>
          <a:bodyPr wrap="square" lIns="0" rIns="0" tIns="0" bIns="0" anchor="ctr">
            <a:spAutoFit/>
          </a:bodyPr>
          <a:lstStyle/>
          <a:p>
            <a:pPr algn="l"/>
            <a:r>
              <a:rPr sz="4000" b="1" i="0">
                <a:solidFill>
                  <a:srgbClr val="5E1F36"/>
                </a:solidFill>
                <a:latin typeface="Cambria"/>
              </a:rPr>
              <a:t>3 de 12</a:t>
            </a:r>
          </a:p>
        </p:txBody>
      </p:sp>
      <p:sp>
        <p:nvSpPr>
          <p:cNvPr id="12" name="TextBox 11"/>
          <p:cNvSpPr txBox="1"/>
          <p:nvPr/>
        </p:nvSpPr>
        <p:spPr>
          <a:xfrm>
            <a:off x="8001000" y="4645152"/>
            <a:ext cx="3383280" cy="457200"/>
          </a:xfrm>
          <a:prstGeom prst="rect">
            <a:avLst/>
          </a:prstGeom>
          <a:noFill/>
        </p:spPr>
        <p:txBody>
          <a:bodyPr wrap="square" lIns="0" rIns="0" tIns="0" bIns="0" anchor="t">
            <a:spAutoFit/>
          </a:bodyPr>
          <a:lstStyle/>
          <a:p>
            <a:pPr algn="l"/>
            <a:r>
              <a:rPr sz="1400" b="0" i="0">
                <a:solidFill>
                  <a:srgbClr val="2B2B2B"/>
                </a:solidFill>
                <a:latin typeface="Calibri"/>
              </a:rPr>
              <a:t>con confianza &lt; 0.80 (25 %); con ≥ 0.80, 0 de 166</a:t>
            </a:r>
          </a:p>
        </p:txBody>
      </p:sp>
      <p:sp>
        <p:nvSpPr>
          <p:cNvPr id="13" name="TextBox 12"/>
          <p:cNvSpPr txBox="1"/>
          <p:nvPr/>
        </p:nvSpPr>
        <p:spPr>
          <a:xfrm>
            <a:off x="7772400" y="5349240"/>
            <a:ext cx="3840480" cy="914400"/>
          </a:xfrm>
          <a:prstGeom prst="rect">
            <a:avLst/>
          </a:prstGeom>
          <a:noFill/>
        </p:spPr>
        <p:txBody>
          <a:bodyPr wrap="square" lIns="0" rIns="0" tIns="0" bIns="0" anchor="t">
            <a:spAutoFit/>
          </a:bodyPr>
          <a:lstStyle/>
          <a:p>
            <a:pPr algn="l"/>
            <a:r>
              <a:rPr sz="1400" b="0" i="0">
                <a:solidFill>
                  <a:srgbClr val="6B5A62"/>
                </a:solidFill>
                <a:latin typeface="Calibri"/>
              </a:rPr>
              <a:t>El umbral de 0.80 se fijó con estos mismos lotes (hallazgo V3.1 de la auditoría): su captura real es menor.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insignia 4"/>
          <p:cNvSpPr/>
          <p:nvPr/>
        </p:nvSpPr>
        <p:spPr>
          <a:xfrm>
            <a:off x="548640" y="457200"/>
            <a:ext cx="457200" cy="45720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4</a:t>
            </a:r>
          </a:p>
        </p:txBody>
      </p:sp>
      <p:sp>
        <p:nvSpPr>
          <p:cNvPr id="3" name="etiqueta de parte"/>
          <p:cNvSpPr txBox="1"/>
          <p:nvPr/>
        </p:nvSpPr>
        <p:spPr>
          <a:xfrm>
            <a:off x="1188719" y="530352"/>
            <a:ext cx="8229600" cy="320040"/>
          </a:xfrm>
          <a:prstGeom prst="rect">
            <a:avLst/>
          </a:prstGeom>
          <a:noFill/>
        </p:spPr>
        <p:txBody>
          <a:bodyPr wrap="square" lIns="0" rIns="0" tIns="0" bIns="0" anchor="ctr">
            <a:spAutoFit/>
          </a:bodyPr>
          <a:lstStyle/>
          <a:p>
            <a:pPr algn="l"/>
            <a:r>
              <a:rPr sz="1300" b="1" i="0">
                <a:solidFill>
                  <a:srgbClr val="6B5A62"/>
                </a:solidFill>
                <a:latin typeface="Calibri"/>
              </a:rPr>
              <a:t>PARTE 4 · DEGRADACIÓN SIMULADA</a:t>
            </a:r>
          </a:p>
        </p:txBody>
      </p:sp>
      <p:sp>
        <p:nvSpPr>
          <p:cNvPr id="4" name="titulo"/>
          <p:cNvSpPr txBox="1"/>
          <p:nvPr/>
        </p:nvSpPr>
        <p:spPr>
          <a:xfrm>
            <a:off x="548640" y="1097280"/>
            <a:ext cx="11064240" cy="1143000"/>
          </a:xfrm>
          <a:prstGeom prst="rect">
            <a:avLst/>
          </a:prstGeom>
          <a:noFill/>
        </p:spPr>
        <p:txBody>
          <a:bodyPr wrap="square" lIns="0" rIns="0" tIns="0" bIns="0" anchor="t">
            <a:spAutoFit/>
          </a:bodyPr>
          <a:lstStyle/>
          <a:p>
            <a:pPr algn="l"/>
            <a:r>
              <a:rPr sz="3600" b="1" i="0">
                <a:solidFill>
                  <a:srgbClr val="5E1F36"/>
                </a:solidFill>
                <a:latin typeface="Cambria"/>
              </a:rPr>
              <a:t>Si el mundo cambia, el modelo no avisa</a:t>
            </a:r>
          </a:p>
        </p:txBody>
      </p:sp>
      <p:sp>
        <p:nvSpPr>
          <p:cNvPr id="5" name="tarjeta figura"/>
          <p:cNvSpPr/>
          <p:nvPr/>
        </p:nvSpPr>
        <p:spPr>
          <a:xfrm>
            <a:off x="548640" y="2377440"/>
            <a:ext cx="6949440" cy="3246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degradacion.png"/>
          <p:cNvPicPr>
            <a:picLocks noChangeAspect="1"/>
          </p:cNvPicPr>
          <p:nvPr/>
        </p:nvPicPr>
        <p:blipFill>
          <a:blip r:embed="rId2"/>
          <a:stretch>
            <a:fillRect/>
          </a:stretch>
        </p:blipFill>
        <p:spPr>
          <a:xfrm>
            <a:off x="640080" y="2468880"/>
            <a:ext cx="6766560" cy="3044952"/>
          </a:xfrm>
          <a:prstGeom prst="rect">
            <a:avLst/>
          </a:prstGeom>
        </p:spPr>
      </p:pic>
      <p:sp>
        <p:nvSpPr>
          <p:cNvPr id="7" name="TextBox 6"/>
          <p:cNvSpPr txBox="1"/>
          <p:nvPr/>
        </p:nvSpPr>
        <p:spPr>
          <a:xfrm>
            <a:off x="548640" y="5806440"/>
            <a:ext cx="6949440" cy="548640"/>
          </a:xfrm>
          <a:prstGeom prst="rect">
            <a:avLst/>
          </a:prstGeom>
          <a:noFill/>
        </p:spPr>
        <p:txBody>
          <a:bodyPr wrap="square" lIns="0" rIns="0" tIns="0" bIns="0" anchor="t">
            <a:spAutoFit/>
          </a:bodyPr>
          <a:lstStyle/>
          <a:p>
            <a:pPr algn="l"/>
            <a:r>
              <a:rPr sz="1400" b="0" i="0">
                <a:solidFill>
                  <a:srgbClr val="6B5A62"/>
                </a:solidFill>
                <a:latin typeface="Calibri"/>
              </a:rPr>
              <a:t>Simulación con supuestos (otro método de medición, instrumento con ruido); no son datos de la empresa.</a:t>
            </a:r>
          </a:p>
        </p:txBody>
      </p:sp>
      <p:sp>
        <p:nvSpPr>
          <p:cNvPr id="8" name="TextBox 7"/>
          <p:cNvSpPr txBox="1"/>
          <p:nvPr/>
        </p:nvSpPr>
        <p:spPr>
          <a:xfrm>
            <a:off x="7863840" y="2377440"/>
            <a:ext cx="3749039" cy="4023360"/>
          </a:xfrm>
          <a:prstGeom prst="rect">
            <a:avLst/>
          </a:prstGeom>
          <a:noFill/>
        </p:spPr>
        <p:txBody>
          <a:bodyPr wrap="square" lIns="0" rIns="0" tIns="0" bIns="0" anchor="t">
            <a:spAutoFit/>
          </a:bodyPr>
          <a:lstStyle/>
          <a:p>
            <a:pPr algn="l">
              <a:spcAft>
                <a:spcPts val="1200"/>
              </a:spcAft>
            </a:pPr>
            <a:r>
              <a:rPr sz="3000" b="1" i="0">
                <a:solidFill>
                  <a:srgbClr val="5E1F36"/>
                </a:solidFill>
                <a:latin typeface="Cambria"/>
              </a:rPr>
              <a:t>0.983 → 0.871</a:t>
            </a:r>
          </a:p>
          <a:p>
            <a:pPr algn="l">
              <a:spcAft>
                <a:spcPts val="1200"/>
              </a:spcAft>
            </a:pPr>
            <a:r>
              <a:rPr sz="1600" b="0" i="0">
                <a:solidFill>
                  <a:srgbClr val="2B2B2B"/>
                </a:solidFill>
                <a:latin typeface="Calibri"/>
              </a:rPr>
              <a:t>exactitud con ruido de una desviación; sigue dando probabilidades que parecen razonables.</a:t>
            </a:r>
          </a:p>
          <a:p>
            <a:pPr algn="l">
              <a:spcAft>
                <a:spcPts val="1200"/>
              </a:spcAft>
            </a:pPr>
            <a:r>
              <a:rPr sz="1600" b="0" i="0">
                <a:solidFill>
                  <a:srgbClr val="2B2B2B"/>
                </a:solidFill>
                <a:latin typeface="Calibri"/>
              </a:rPr>
              <a:t>Dos alertas complementarias: la de distribución ve el cambio de método; la de rango ve el ruido.</a:t>
            </a:r>
          </a:p>
          <a:p>
            <a:pPr algn="l">
              <a:spcAft>
                <a:spcPts val="1200"/>
              </a:spcAft>
            </a:pPr>
            <a:r>
              <a:rPr sz="1600" b="0" i="0">
                <a:solidFill>
                  <a:srgbClr val="2B2B2B"/>
                </a:solidFill>
                <a:latin typeface="Calibri"/>
              </a:rPr>
              <a:t>Una alerta no es una caída medida: la señal definitiva es la exactitud con lotes nuevos etiquetados.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insignia 5"/>
          <p:cNvSpPr/>
          <p:nvPr/>
        </p:nvSpPr>
        <p:spPr>
          <a:xfrm>
            <a:off x="548640" y="457200"/>
            <a:ext cx="457200" cy="457200"/>
          </a:xfrm>
          <a:prstGeom prst="ellipse">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5</a:t>
            </a:r>
          </a:p>
        </p:txBody>
      </p:sp>
      <p:sp>
        <p:nvSpPr>
          <p:cNvPr id="3" name="etiqueta de parte"/>
          <p:cNvSpPr txBox="1"/>
          <p:nvPr/>
        </p:nvSpPr>
        <p:spPr>
          <a:xfrm>
            <a:off x="1188719" y="530352"/>
            <a:ext cx="8229600" cy="320040"/>
          </a:xfrm>
          <a:prstGeom prst="rect">
            <a:avLst/>
          </a:prstGeom>
          <a:noFill/>
        </p:spPr>
        <p:txBody>
          <a:bodyPr wrap="square" lIns="0" rIns="0" tIns="0" bIns="0" anchor="ctr">
            <a:spAutoFit/>
          </a:bodyPr>
          <a:lstStyle/>
          <a:p>
            <a:pPr algn="l"/>
            <a:r>
              <a:rPr sz="1300" b="1" i="0">
                <a:solidFill>
                  <a:srgbClr val="6B5A62"/>
                </a:solidFill>
                <a:latin typeface="Calibri"/>
              </a:rPr>
              <a:t>PARTE 5 · LAS LIMITACIONES</a:t>
            </a:r>
          </a:p>
        </p:txBody>
      </p:sp>
      <p:sp>
        <p:nvSpPr>
          <p:cNvPr id="4" name="titulo"/>
          <p:cNvSpPr txBox="1"/>
          <p:nvPr/>
        </p:nvSpPr>
        <p:spPr>
          <a:xfrm>
            <a:off x="548640" y="1097280"/>
            <a:ext cx="11064240" cy="1143000"/>
          </a:xfrm>
          <a:prstGeom prst="rect">
            <a:avLst/>
          </a:prstGeom>
          <a:noFill/>
        </p:spPr>
        <p:txBody>
          <a:bodyPr wrap="square" lIns="0" rIns="0" tIns="0" bIns="0" anchor="t">
            <a:spAutoFit/>
          </a:bodyPr>
          <a:lstStyle/>
          <a:p>
            <a:pPr algn="l"/>
            <a:r>
              <a:rPr sz="3600" b="1" i="0">
                <a:solidFill>
                  <a:srgbClr val="5E1F36"/>
                </a:solidFill>
                <a:latin typeface="Cambria"/>
              </a:rPr>
              <a:t>Dónde falla y cuándo no usarla</a:t>
            </a:r>
          </a:p>
        </p:txBody>
      </p:sp>
      <p:sp>
        <p:nvSpPr>
          <p:cNvPr id="5" name="tarjeta No usarla para"/>
          <p:cNvSpPr/>
          <p:nvPr/>
        </p:nvSpPr>
        <p:spPr>
          <a:xfrm>
            <a:off x="548640" y="2377440"/>
            <a:ext cx="5394960" cy="33832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06040"/>
            <a:ext cx="4754880" cy="457200"/>
          </a:xfrm>
          <a:prstGeom prst="rect">
            <a:avLst/>
          </a:prstGeom>
          <a:noFill/>
        </p:spPr>
        <p:txBody>
          <a:bodyPr wrap="square" lIns="0" rIns="0" tIns="0" bIns="0" anchor="t">
            <a:spAutoFit/>
          </a:bodyPr>
          <a:lstStyle/>
          <a:p>
            <a:pPr algn="l"/>
            <a:r>
              <a:rPr sz="2200" b="1" i="0">
                <a:solidFill>
                  <a:srgbClr val="5E1F36"/>
                </a:solidFill>
                <a:latin typeface="Cambria"/>
              </a:rPr>
              <a:t>No usarla para</a:t>
            </a:r>
          </a:p>
        </p:txBody>
      </p:sp>
      <p:sp>
        <p:nvSpPr>
          <p:cNvPr id="7" name="TextBox 6"/>
          <p:cNvSpPr txBox="1"/>
          <p:nvPr/>
        </p:nvSpPr>
        <p:spPr>
          <a:xfrm>
            <a:off x="868680" y="3200400"/>
            <a:ext cx="4754880" cy="2468880"/>
          </a:xfrm>
          <a:prstGeom prst="rect">
            <a:avLst/>
          </a:prstGeom>
          <a:noFill/>
        </p:spPr>
        <p:txBody>
          <a:bodyPr wrap="square" lIns="0" rIns="0" tIns="0" bIns="0" anchor="t">
            <a:spAutoFit/>
          </a:bodyPr>
          <a:lstStyle/>
          <a:p>
            <a:pPr algn="l">
              <a:spcAft>
                <a:spcPts val="1000"/>
              </a:spcAft>
            </a:pPr>
            <a:r>
              <a:rPr sz="1600" b="0" i="0">
                <a:solidFill>
                  <a:srgbClr val="2B2B2B"/>
                </a:solidFill>
                <a:latin typeface="Calibri"/>
              </a:rPr>
              <a:t>Asignar la línea de producto sin una persona</a:t>
            </a:r>
          </a:p>
          <a:p>
            <a:pPr algn="l">
              <a:spcAft>
                <a:spcPts val="1000"/>
              </a:spcAft>
            </a:pPr>
            <a:r>
              <a:rPr sz="1600" b="0" i="0">
                <a:solidFill>
                  <a:srgbClr val="2B2B2B"/>
                </a:solidFill>
                <a:latin typeface="Calibri"/>
              </a:rPr>
              <a:t>Vinos de otras regiones, uvas o métodos de laboratorio</a:t>
            </a:r>
          </a:p>
          <a:p>
            <a:pPr algn="l">
              <a:spcAft>
                <a:spcPts val="1000"/>
              </a:spcAft>
            </a:pPr>
            <a:r>
              <a:rPr sz="1600" b="0" i="0">
                <a:solidFill>
                  <a:srgbClr val="2B2B2B"/>
                </a:solidFill>
                <a:latin typeface="Calibri"/>
              </a:rPr>
              <a:t>Confiar en resultados con confianza menor a 80 %</a:t>
            </a:r>
          </a:p>
          <a:p>
            <a:pPr algn="l">
              <a:spcAft>
                <a:spcPts val="1000"/>
              </a:spcAft>
            </a:pPr>
            <a:r>
              <a:rPr sz="1600" b="0" i="0">
                <a:solidFill>
                  <a:srgbClr val="2B2B2B"/>
                </a:solidFill>
                <a:latin typeface="Calibri"/>
              </a:rPr>
              <a:t>Decidir calidad o seguridad: son 178 lotes y 3 errores</a:t>
            </a:r>
          </a:p>
        </p:txBody>
      </p:sp>
      <p:sp>
        <p:nvSpPr>
          <p:cNvPr id="8" name="tarjeta Revisar o reentrenar si"/>
          <p:cNvSpPr/>
          <p:nvPr/>
        </p:nvSpPr>
        <p:spPr>
          <a:xfrm>
            <a:off x="6217920" y="2377440"/>
            <a:ext cx="5394960" cy="3383280"/>
          </a:xfrm>
          <a:prstGeom prst="roundRect">
            <a:avLst>
              <a:gd name="adj" fmla="val 6000"/>
            </a:avLst>
          </a:prstGeom>
          <a:solidFill>
            <a:srgbClr val="F4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2606040"/>
            <a:ext cx="4754880" cy="457200"/>
          </a:xfrm>
          <a:prstGeom prst="rect">
            <a:avLst/>
          </a:prstGeom>
          <a:noFill/>
        </p:spPr>
        <p:txBody>
          <a:bodyPr wrap="square" lIns="0" rIns="0" tIns="0" bIns="0" anchor="t">
            <a:spAutoFit/>
          </a:bodyPr>
          <a:lstStyle/>
          <a:p>
            <a:pPr algn="l"/>
            <a:r>
              <a:rPr sz="2200" b="1" i="0">
                <a:solidFill>
                  <a:srgbClr val="5E1F36"/>
                </a:solidFill>
                <a:latin typeface="Cambria"/>
              </a:rPr>
              <a:t>Revisar o reentrenar si</a:t>
            </a:r>
          </a:p>
        </p:txBody>
      </p:sp>
      <p:sp>
        <p:nvSpPr>
          <p:cNvPr id="10" name="TextBox 9"/>
          <p:cNvSpPr txBox="1"/>
          <p:nvPr/>
        </p:nvSpPr>
        <p:spPr>
          <a:xfrm>
            <a:off x="6537959" y="3200400"/>
            <a:ext cx="4754880" cy="2468880"/>
          </a:xfrm>
          <a:prstGeom prst="rect">
            <a:avLst/>
          </a:prstGeom>
          <a:noFill/>
        </p:spPr>
        <p:txBody>
          <a:bodyPr wrap="square" lIns="0" rIns="0" tIns="0" bIns="0" anchor="t">
            <a:spAutoFit/>
          </a:bodyPr>
          <a:lstStyle/>
          <a:p>
            <a:pPr algn="l">
              <a:spcAft>
                <a:spcPts val="1000"/>
              </a:spcAft>
            </a:pPr>
            <a:r>
              <a:rPr sz="1600" b="0" i="0">
                <a:solidFill>
                  <a:srgbClr val="2B2B2B"/>
                </a:solidFill>
                <a:latin typeface="Calibri"/>
              </a:rPr>
              <a:t>Cambia el método o el instrumento de medición</a:t>
            </a:r>
          </a:p>
          <a:p>
            <a:pPr algn="l">
              <a:spcAft>
                <a:spcPts val="1000"/>
              </a:spcAft>
            </a:pPr>
            <a:r>
              <a:rPr sz="1600" b="0" i="0">
                <a:solidFill>
                  <a:srgbClr val="2B2B2B"/>
                </a:solidFill>
                <a:latin typeface="Calibri"/>
              </a:rPr>
              <a:t>La exactitud con lotes etiquetados cae más de 0.05 (menos de 0.931)</a:t>
            </a:r>
          </a:p>
          <a:p>
            <a:pPr algn="l">
              <a:spcAft>
                <a:spcPts val="1000"/>
              </a:spcAft>
            </a:pPr>
            <a:r>
              <a:rPr sz="1600" b="0" i="0">
                <a:solidFill>
                  <a:srgbClr val="2B2B2B"/>
                </a:solidFill>
                <a:latin typeface="Calibri"/>
              </a:rPr>
              <a:t>La alerta de deriva salta en dos archivos seguidos</a:t>
            </a:r>
          </a:p>
          <a:p>
            <a:pPr algn="l">
              <a:spcAft>
                <a:spcPts val="1000"/>
              </a:spcAft>
            </a:pPr>
            <a:r>
              <a:rPr sz="1600" b="0" i="0">
                <a:solidFill>
                  <a:srgbClr val="2B2B2B"/>
                </a:solidFill>
                <a:latin typeface="Calibri"/>
              </a:rPr>
              <a:t>Se incorporan datos reales de la empresa</a:t>
            </a:r>
          </a:p>
        </p:txBody>
      </p:sp>
      <p:sp>
        <p:nvSpPr>
          <p:cNvPr id="11" name="TextBox 10"/>
          <p:cNvSpPr txBox="1"/>
          <p:nvPr/>
        </p:nvSpPr>
        <p:spPr>
          <a:xfrm>
            <a:off x="548640" y="5989320"/>
            <a:ext cx="11064240" cy="548640"/>
          </a:xfrm>
          <a:prstGeom prst="rect">
            <a:avLst/>
          </a:prstGeom>
          <a:noFill/>
        </p:spPr>
        <p:txBody>
          <a:bodyPr wrap="square" lIns="0" rIns="0" tIns="0" bIns="0" anchor="t">
            <a:spAutoFit/>
          </a:bodyPr>
          <a:lstStyle/>
          <a:p>
            <a:pPr algn="l"/>
            <a:r>
              <a:rPr sz="1500" b="1" i="0">
                <a:solidFill>
                  <a:srgbClr val="5E1F36"/>
                </a:solidFill>
                <a:latin typeface="Calibri"/>
              </a:rPr>
              <a:t>Sin comprobar: datos reales de la empresa, otro laboratorio u otro año, y el uso por una persona distinta del autor.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341020"/>
        </a:solidFill>
        <a:effectLst/>
      </p:bgPr>
    </p:bg>
    <p:spTree>
      <p:nvGrpSpPr>
        <p:cNvPr id="1" name=""/>
        <p:cNvGrpSpPr/>
        <p:nvPr/>
      </p:nvGrpSpPr>
      <p:grpSpPr/>
      <p:sp>
        <p:nvSpPr>
          <p:cNvPr id="2" name="TextBox 1"/>
          <p:cNvSpPr txBox="1"/>
          <p:nvPr/>
        </p:nvSpPr>
        <p:spPr>
          <a:xfrm>
            <a:off x="822960" y="822960"/>
            <a:ext cx="7315200" cy="365760"/>
          </a:xfrm>
          <a:prstGeom prst="rect">
            <a:avLst/>
          </a:prstGeom>
          <a:noFill/>
        </p:spPr>
        <p:txBody>
          <a:bodyPr wrap="square" lIns="0" rIns="0" tIns="0" bIns="0" anchor="t">
            <a:spAutoFit/>
          </a:bodyPr>
          <a:lstStyle/>
          <a:p>
            <a:pPr algn="l"/>
            <a:r>
              <a:rPr sz="1400" b="1" i="0">
                <a:solidFill>
                  <a:srgbClr val="E2C6D1"/>
                </a:solidFill>
                <a:latin typeface="Calibri"/>
              </a:rPr>
              <a:t>EN UNA FRASE</a:t>
            </a:r>
          </a:p>
        </p:txBody>
      </p:sp>
      <p:sp>
        <p:nvSpPr>
          <p:cNvPr id="3" name="titulo"/>
          <p:cNvSpPr txBox="1"/>
          <p:nvPr/>
        </p:nvSpPr>
        <p:spPr>
          <a:xfrm>
            <a:off x="822960" y="1463040"/>
            <a:ext cx="10424160" cy="2377440"/>
          </a:xfrm>
          <a:prstGeom prst="rect">
            <a:avLst/>
          </a:prstGeom>
          <a:noFill/>
        </p:spPr>
        <p:txBody>
          <a:bodyPr wrap="square" lIns="0" rIns="0" tIns="0" bIns="0" anchor="t">
            <a:spAutoFit/>
          </a:bodyPr>
          <a:lstStyle/>
          <a:p>
            <a:pPr algn="l"/>
            <a:r>
              <a:rPr sz="4000" b="1" i="0">
                <a:solidFill>
                  <a:srgbClr val="FFFFFF"/>
                </a:solidFill>
                <a:latin typeface="Cambria"/>
              </a:rPr>
              <a:t>Convierte 13 números de laboratorio en un perfil con su confianza, y dice cuándo no hay que creerle.</a:t>
            </a:r>
          </a:p>
        </p:txBody>
      </p:sp>
      <p:sp>
        <p:nvSpPr>
          <p:cNvPr id="4" name="cifra 1"/>
          <p:cNvSpPr/>
          <p:nvPr/>
        </p:nvSpPr>
        <p:spPr>
          <a:xfrm>
            <a:off x="822960" y="4206240"/>
            <a:ext cx="3383280" cy="1371600"/>
          </a:xfrm>
          <a:prstGeom prst="roundRect">
            <a:avLst>
              <a:gd name="adj" fmla="val 6000"/>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297680"/>
            <a:ext cx="2834640" cy="685800"/>
          </a:xfrm>
          <a:prstGeom prst="rect">
            <a:avLst/>
          </a:prstGeom>
          <a:noFill/>
        </p:spPr>
        <p:txBody>
          <a:bodyPr wrap="square" lIns="0" rIns="0" tIns="0" bIns="0" anchor="ctr">
            <a:spAutoFit/>
          </a:bodyPr>
          <a:lstStyle/>
          <a:p>
            <a:pPr algn="l"/>
            <a:r>
              <a:rPr sz="3400" b="1" i="0">
                <a:solidFill>
                  <a:srgbClr val="FFFFFF"/>
                </a:solidFill>
                <a:latin typeface="Cambria"/>
              </a:rPr>
              <a:t>40</a:t>
            </a:r>
          </a:p>
        </p:txBody>
      </p:sp>
      <p:sp>
        <p:nvSpPr>
          <p:cNvPr id="6" name="TextBox 5"/>
          <p:cNvSpPr txBox="1"/>
          <p:nvPr/>
        </p:nvSpPr>
        <p:spPr>
          <a:xfrm>
            <a:off x="1097280" y="4983480"/>
            <a:ext cx="2834640" cy="502920"/>
          </a:xfrm>
          <a:prstGeom prst="rect">
            <a:avLst/>
          </a:prstGeom>
          <a:noFill/>
        </p:spPr>
        <p:txBody>
          <a:bodyPr wrap="square" lIns="0" rIns="0" tIns="0" bIns="0" anchor="t">
            <a:spAutoFit/>
          </a:bodyPr>
          <a:lstStyle/>
          <a:p>
            <a:pPr algn="l"/>
            <a:r>
              <a:rPr sz="1400" b="0" i="0">
                <a:solidFill>
                  <a:srgbClr val="E2C6D1"/>
                </a:solidFill>
                <a:latin typeface="Calibri"/>
              </a:rPr>
              <a:t>pruebas automáticas en verde</a:t>
            </a:r>
          </a:p>
        </p:txBody>
      </p:sp>
      <p:sp>
        <p:nvSpPr>
          <p:cNvPr id="7" name="cifra 2"/>
          <p:cNvSpPr/>
          <p:nvPr/>
        </p:nvSpPr>
        <p:spPr>
          <a:xfrm>
            <a:off x="4480560" y="4206240"/>
            <a:ext cx="3383280" cy="1371600"/>
          </a:xfrm>
          <a:prstGeom prst="roundRect">
            <a:avLst>
              <a:gd name="adj" fmla="val 6000"/>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4297680"/>
            <a:ext cx="2834640" cy="685800"/>
          </a:xfrm>
          <a:prstGeom prst="rect">
            <a:avLst/>
          </a:prstGeom>
          <a:noFill/>
        </p:spPr>
        <p:txBody>
          <a:bodyPr wrap="square" lIns="0" rIns="0" tIns="0" bIns="0" anchor="ctr">
            <a:spAutoFit/>
          </a:bodyPr>
          <a:lstStyle/>
          <a:p>
            <a:pPr algn="l"/>
            <a:r>
              <a:rPr sz="3400" b="1" i="0">
                <a:solidFill>
                  <a:srgbClr val="FFFFFF"/>
                </a:solidFill>
                <a:latin typeface="Cambria"/>
              </a:rPr>
              <a:t>3 de 178</a:t>
            </a:r>
          </a:p>
        </p:txBody>
      </p:sp>
      <p:sp>
        <p:nvSpPr>
          <p:cNvPr id="9" name="TextBox 8"/>
          <p:cNvSpPr txBox="1"/>
          <p:nvPr/>
        </p:nvSpPr>
        <p:spPr>
          <a:xfrm>
            <a:off x="4754880" y="4983480"/>
            <a:ext cx="2834640" cy="502920"/>
          </a:xfrm>
          <a:prstGeom prst="rect">
            <a:avLst/>
          </a:prstGeom>
          <a:noFill/>
        </p:spPr>
        <p:txBody>
          <a:bodyPr wrap="square" lIns="0" rIns="0" tIns="0" bIns="0" anchor="t">
            <a:spAutoFit/>
          </a:bodyPr>
          <a:lstStyle/>
          <a:p>
            <a:pPr algn="l"/>
            <a:r>
              <a:rPr sz="1400" b="0" i="0">
                <a:solidFill>
                  <a:srgbClr val="E2C6D1"/>
                </a:solidFill>
                <a:latin typeface="Calibri"/>
              </a:rPr>
              <a:t>errores, todos con confianza baja</a:t>
            </a:r>
          </a:p>
        </p:txBody>
      </p:sp>
      <p:sp>
        <p:nvSpPr>
          <p:cNvPr id="10" name="cifra 3"/>
          <p:cNvSpPr/>
          <p:nvPr/>
        </p:nvSpPr>
        <p:spPr>
          <a:xfrm>
            <a:off x="8138160" y="4206240"/>
            <a:ext cx="3383280" cy="1371600"/>
          </a:xfrm>
          <a:prstGeom prst="roundRect">
            <a:avLst>
              <a:gd name="adj" fmla="val 6000"/>
            </a:avLst>
          </a:prstGeom>
          <a:solidFill>
            <a:srgbClr val="5E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297680"/>
            <a:ext cx="2834640" cy="685800"/>
          </a:xfrm>
          <a:prstGeom prst="rect">
            <a:avLst/>
          </a:prstGeom>
          <a:noFill/>
        </p:spPr>
        <p:txBody>
          <a:bodyPr wrap="square" lIns="0" rIns="0" tIns="0" bIns="0" anchor="ctr">
            <a:spAutoFit/>
          </a:bodyPr>
          <a:lstStyle/>
          <a:p>
            <a:pPr algn="l"/>
            <a:r>
              <a:rPr sz="3400" b="1" i="0">
                <a:solidFill>
                  <a:srgbClr val="FFFFFF"/>
                </a:solidFill>
                <a:latin typeface="Cambria"/>
              </a:rPr>
              <a:t>V3.1</a:t>
            </a:r>
          </a:p>
        </p:txBody>
      </p:sp>
      <p:sp>
        <p:nvSpPr>
          <p:cNvPr id="12" name="TextBox 11"/>
          <p:cNvSpPr txBox="1"/>
          <p:nvPr/>
        </p:nvSpPr>
        <p:spPr>
          <a:xfrm>
            <a:off x="8412480" y="4983480"/>
            <a:ext cx="2834640" cy="502920"/>
          </a:xfrm>
          <a:prstGeom prst="rect">
            <a:avLst/>
          </a:prstGeom>
          <a:noFill/>
        </p:spPr>
        <p:txBody>
          <a:bodyPr wrap="square" lIns="0" rIns="0" tIns="0" bIns="0" anchor="t">
            <a:spAutoFit/>
          </a:bodyPr>
          <a:lstStyle/>
          <a:p>
            <a:pPr algn="l"/>
            <a:r>
              <a:rPr sz="1400" b="0" i="0">
                <a:solidFill>
                  <a:srgbClr val="E2C6D1"/>
                </a:solidFill>
                <a:latin typeface="Calibri"/>
              </a:rPr>
              <a:t>hallazgo de auditoría, declarado</a:t>
            </a:r>
          </a:p>
        </p:txBody>
      </p:sp>
      <p:sp>
        <p:nvSpPr>
          <p:cNvPr id="13" name="TextBox 12"/>
          <p:cNvSpPr txBox="1"/>
          <p:nvPr/>
        </p:nvSpPr>
        <p:spPr>
          <a:xfrm>
            <a:off x="822960" y="6035040"/>
            <a:ext cx="10515600" cy="365760"/>
          </a:xfrm>
          <a:prstGeom prst="rect">
            <a:avLst/>
          </a:prstGeom>
          <a:noFill/>
        </p:spPr>
        <p:txBody>
          <a:bodyPr wrap="square" lIns="0" rIns="0" tIns="0" bIns="0" anchor="t">
            <a:spAutoFit/>
          </a:bodyPr>
          <a:lstStyle/>
          <a:p>
            <a:pPr algn="l"/>
            <a:r>
              <a:rPr sz="1400" b="0" i="0">
                <a:solidFill>
                  <a:srgbClr val="E2C6D1"/>
                </a:solidFill>
                <a:latin typeface="Calibri"/>
              </a:rPr>
              <a:t>Demostración: python app_gradio.py · Repositorio: Modulo 8_2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Clasificador del perfil químico de lotes de vino</dc:title>
  <dc:subject/>
  <dc:creator>mikecrv2019</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